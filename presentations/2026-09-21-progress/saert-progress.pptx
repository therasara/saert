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a68205e608040c5" /><Relationship Type="http://schemas.openxmlformats.org/officeDocument/2006/relationships/extended-properties" Target="/docProps/app.xml" Id="R613add1cbe724db3" /><Relationship Type="http://schemas.openxmlformats.org/officeDocument/2006/relationships/officeDocument" Target="/ppt/presentation.xml" Id="R54b75f28f6ae4236" /></Relationships>
</file>

<file path=ppt/presentation.xml><?xml version="1.0" encoding="utf-8"?>
<p:presentation xmlns:p="http://schemas.openxmlformats.org/presentationml/2006/main">
  <p:sldMasterIdLst>
    <p:sldMasterId xmlns:r="http://schemas.openxmlformats.org/officeDocument/2006/relationships" id="2147483648" r:id="R3560a91d2a6f4fe0"/>
  </p:sldMasterIdLst>
  <p:notesMasterIdLst>
    <p:notesMasterId xmlns:r="http://schemas.openxmlformats.org/officeDocument/2006/relationships" r:id="R495da3312e1f4f2c"/>
  </p:notesMasterIdLst>
  <p:sldIdLst>
    <p:sldId xmlns:r="http://schemas.openxmlformats.org/officeDocument/2006/relationships" id="256" r:id="R09a778294ce94ffe"/>
    <p:sldId xmlns:r="http://schemas.openxmlformats.org/officeDocument/2006/relationships" id="257" r:id="Rea03f164ec354ee6"/>
    <p:sldId xmlns:r="http://schemas.openxmlformats.org/officeDocument/2006/relationships" id="258" r:id="R829e1b3ac064429e"/>
    <p:sldId xmlns:r="http://schemas.openxmlformats.org/officeDocument/2006/relationships" id="259" r:id="R6425ff0e65b34fd8"/>
    <p:sldId xmlns:r="http://schemas.openxmlformats.org/officeDocument/2006/relationships" id="260" r:id="Rae85d8e5920a454c"/>
    <p:sldId xmlns:r="http://schemas.openxmlformats.org/officeDocument/2006/relationships" id="261" r:id="Ra4a02042b6684e29"/>
    <p:sldId xmlns:r="http://schemas.openxmlformats.org/officeDocument/2006/relationships" id="262" r:id="Rc005b56b188b4fc4"/>
    <p:sldId xmlns:r="http://schemas.openxmlformats.org/officeDocument/2006/relationships" id="263" r:id="R6799950c11024d0e"/>
    <p:sldId xmlns:r="http://schemas.openxmlformats.org/officeDocument/2006/relationships" id="264" r:id="R837ee84034fe44c8"/>
    <p:sldId xmlns:r="http://schemas.openxmlformats.org/officeDocument/2006/relationships" id="265" r:id="Ra091d76edd80475d"/>
    <p:sldId xmlns:r="http://schemas.openxmlformats.org/officeDocument/2006/relationships" id="266" r:id="Re9005cafcead457c"/>
    <p:sldId xmlns:r="http://schemas.openxmlformats.org/officeDocument/2006/relationships" id="267" r:id="R1f16c7bafee14735"/>
    <p:sldId xmlns:r="http://schemas.openxmlformats.org/officeDocument/2006/relationships" id="268" r:id="R7efe3f3ec6134ae5"/>
    <p:sldId xmlns:r="http://schemas.openxmlformats.org/officeDocument/2006/relationships" id="269" r:id="R83de5c6d5ffc41d2"/>
    <p:sldId xmlns:r="http://schemas.openxmlformats.org/officeDocument/2006/relationships" id="270" r:id="R12deff66bd69433c"/>
    <p:sldId xmlns:r="http://schemas.openxmlformats.org/officeDocument/2006/relationships" id="271" r:id="R112f88bc2b044585"/>
    <p:sldId xmlns:r="http://schemas.openxmlformats.org/officeDocument/2006/relationships" id="272" r:id="R8ded556b8e8a48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fb4ab589a94684" /><Relationship Type="http://schemas.openxmlformats.org/officeDocument/2006/relationships/slideMaster" Target="/ppt/slideMasters/slideMaster1.xml" Id="R3560a91d2a6f4fe0" /><Relationship Type="http://schemas.openxmlformats.org/officeDocument/2006/relationships/notesMaster" Target="/ppt/notesMasters/notesMaster1.xml" Id="R495da3312e1f4f2c" /><Relationship Type="http://schemas.openxmlformats.org/officeDocument/2006/relationships/presProps" Target="/ppt/presProps.xml" Id="Rb026d1de3598478a" /><Relationship Type="http://schemas.openxmlformats.org/officeDocument/2006/relationships/tableStyles" Target="/ppt/tableStyles.xml" Id="Rfd1957bbb3ba4e1e" /><Relationship Type="http://schemas.openxmlformats.org/officeDocument/2006/relationships/slide" Target="/ppt/slides/slide1.xml" Id="R09a778294ce94ffe" /><Relationship Type="http://schemas.openxmlformats.org/officeDocument/2006/relationships/slide" Target="/ppt/slides/slide2.xml" Id="Rea03f164ec354ee6" /><Relationship Type="http://schemas.openxmlformats.org/officeDocument/2006/relationships/slide" Target="/ppt/slides/slide3.xml" Id="R829e1b3ac064429e" /><Relationship Type="http://schemas.openxmlformats.org/officeDocument/2006/relationships/slide" Target="/ppt/slides/slide4.xml" Id="R6425ff0e65b34fd8" /><Relationship Type="http://schemas.openxmlformats.org/officeDocument/2006/relationships/slide" Target="/ppt/slides/slide5.xml" Id="Rae85d8e5920a454c" /><Relationship Type="http://schemas.openxmlformats.org/officeDocument/2006/relationships/slide" Target="/ppt/slides/slide6.xml" Id="Ra4a02042b6684e29" /><Relationship Type="http://schemas.openxmlformats.org/officeDocument/2006/relationships/slide" Target="/ppt/slides/slide7.xml" Id="Rc005b56b188b4fc4" /><Relationship Type="http://schemas.openxmlformats.org/officeDocument/2006/relationships/slide" Target="/ppt/slides/slide8.xml" Id="R6799950c11024d0e" /><Relationship Type="http://schemas.openxmlformats.org/officeDocument/2006/relationships/slide" Target="/ppt/slides/slide9.xml" Id="R837ee84034fe44c8" /><Relationship Type="http://schemas.openxmlformats.org/officeDocument/2006/relationships/slide" Target="/ppt/slides/slide10.xml" Id="Ra091d76edd80475d" /><Relationship Type="http://schemas.openxmlformats.org/officeDocument/2006/relationships/slide" Target="/ppt/slides/slide11.xml" Id="Re9005cafcead457c" /><Relationship Type="http://schemas.openxmlformats.org/officeDocument/2006/relationships/slide" Target="/ppt/slides/slide12.xml" Id="R1f16c7bafee14735" /><Relationship Type="http://schemas.openxmlformats.org/officeDocument/2006/relationships/slide" Target="/ppt/slides/slide13.xml" Id="R7efe3f3ec6134ae5" /><Relationship Type="http://schemas.openxmlformats.org/officeDocument/2006/relationships/slide" Target="/ppt/slides/slide14.xml" Id="R83de5c6d5ffc41d2" /><Relationship Type="http://schemas.openxmlformats.org/officeDocument/2006/relationships/slide" Target="/ppt/slides/slide15.xml" Id="R12deff66bd69433c" /><Relationship Type="http://schemas.openxmlformats.org/officeDocument/2006/relationships/slide" Target="/ppt/slides/slide16.xml" Id="R112f88bc2b044585" /><Relationship Type="http://schemas.openxmlformats.org/officeDocument/2006/relationships/slide" Target="/ppt/slides/slide17.xml" Id="R8ded556b8e8a48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012e2e28a2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0d735da3034391" /><Relationship Type="http://schemas.openxmlformats.org/officeDocument/2006/relationships/notesMaster" Target="/ppt/notesMasters/notesMaster1.xml" Id="Rbd4cf22857b141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5377cf37e34d66" /><Relationship Type="http://schemas.openxmlformats.org/officeDocument/2006/relationships/notesMaster" Target="/ppt/notesMasters/notesMaster1.xml" Id="R1b3f818a10fa49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0c30851f7d4712" /><Relationship Type="http://schemas.openxmlformats.org/officeDocument/2006/relationships/notesMaster" Target="/ppt/notesMasters/notesMaster1.xml" Id="R3f4d1e5a0f3f4e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bb7a1445c34a15" /><Relationship Type="http://schemas.openxmlformats.org/officeDocument/2006/relationships/notesMaster" Target="/ppt/notesMasters/notesMaster1.xml" Id="R5e4c11a493c247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d32174637a4a6f" /><Relationship Type="http://schemas.openxmlformats.org/officeDocument/2006/relationships/notesMaster" Target="/ppt/notesMasters/notesMaster1.xml" Id="R7790471fa96344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181270b03d456c" /><Relationship Type="http://schemas.openxmlformats.org/officeDocument/2006/relationships/notesMaster" Target="/ppt/notesMasters/notesMaster1.xml" Id="Rfcfec6fcb7f047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79f22d9b5347d0" /><Relationship Type="http://schemas.openxmlformats.org/officeDocument/2006/relationships/notesMaster" Target="/ppt/notesMasters/notesMaster1.xml" Id="Ra85ab2d1312d4c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a2896a7db24d90" /><Relationship Type="http://schemas.openxmlformats.org/officeDocument/2006/relationships/notesMaster" Target="/ppt/notesMasters/notesMaster1.xml" Id="R3f5a3f7b15e74c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132e421695467d" /><Relationship Type="http://schemas.openxmlformats.org/officeDocument/2006/relationships/notesMaster" Target="/ppt/notesMasters/notesMaster1.xml" Id="Ra56b241d9dba45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aea36a8f674b89" /><Relationship Type="http://schemas.openxmlformats.org/officeDocument/2006/relationships/notesMaster" Target="/ppt/notesMasters/notesMaster1.xml" Id="Rec356f3b08154d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a059f80eae4c36" /><Relationship Type="http://schemas.openxmlformats.org/officeDocument/2006/relationships/notesMaster" Target="/ppt/notesMasters/notesMaster1.xml" Id="R1fbff087cb4d44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7238170bc84904" /><Relationship Type="http://schemas.openxmlformats.org/officeDocument/2006/relationships/notesMaster" Target="/ppt/notesMasters/notesMaster1.xml" Id="R3b7980bf609f4e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4a4fec63d546ad" /><Relationship Type="http://schemas.openxmlformats.org/officeDocument/2006/relationships/notesMaster" Target="/ppt/notesMasters/notesMaster1.xml" Id="R256ddc08808944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f35d4b1372455e" /><Relationship Type="http://schemas.openxmlformats.org/officeDocument/2006/relationships/notesMaster" Target="/ppt/notesMasters/notesMaster1.xml" Id="Rb1307594865245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14a5b2032d46f4" /><Relationship Type="http://schemas.openxmlformats.org/officeDocument/2006/relationships/notesMaster" Target="/ppt/notesMasters/notesMaster1.xml" Id="Rba6606df94714b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87ef9a485c45b2" /><Relationship Type="http://schemas.openxmlformats.org/officeDocument/2006/relationships/notesMaster" Target="/ppt/notesMasters/notesMaster1.xml" Id="Rbb34a3e0e2f541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31ffa4ff4c4c73" /><Relationship Type="http://schemas.openxmlformats.org/officeDocument/2006/relationships/notesMaster" Target="/ppt/notesMasters/notesMaster1.xml" Id="R4f2e4b1ee3d749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30 seconds: I have built a corrected pipeline from reading-time data to sparse GPT-2 features and tested whether they improve prediction on unseen stories. We now have predictive evidence, a meaningful difference between corpora, and a new scaling check. The next question is what drives the gains before we interpret features or intervene on them.</a:t>
            </a:r>
          </a:p>
          <a:p xmlns:a="http://schemas.openxmlformats.org/drawingml/2006/main">
            <a:r>
              <a:t>Sources: docs/project_plan.md; docs/sae_prediction_findings.md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 professor’s question concerns features that may be weakly used or removed. I separate three claims. Prediction asks whether features help explain held-out RTs. Interpretation asks what those features track. Intervention asks what changes in the model when we edit them. We have completed an initial predictive comparison. We have not established a causal mechanism in human readers.</a:t>
            </a:r>
          </a:p>
          <a:p xmlns:a="http://schemas.openxmlformats.org/drawingml/2006/main">
            <a:r>
              <a:t/>
            </a:r>
          </a:p>
          <a:p xmlns:a="http://schemas.openxmlformats.org/drawingml/2006/main">
            <a:r>
              <a:t>Sources: docs/project_plan.md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Provo and Natural Stories provide complementary measurements, but they also differ in texts and participants. We cannot attribute the result difference entirely to reading modality. The current outcome is the log of the arithmetic mean RT for each displayed region or word, not the average of individual log RTs. Participant-level modeling is a later robustness analysis.</a:t>
            </a:r>
          </a:p>
          <a:p xmlns:a="http://schemas.openxmlformats.org/drawingml/2006/main">
            <a:r>
              <a:t/>
            </a:r>
          </a:p>
          <a:p xmlns:a="http://schemas.openxmlformats.org/drawingml/2006/main">
            <a:r>
              <a:t>Sources: docs/baseline_methods.md; docs/project_plan.md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This is the project map. The first four stages are implemented. I keep the language-model probability path separate from the representation path. The final two stages need additional evidence, rather than automatically labeling a predictive feature as a cognitive process. Every stage saves reproducible artifacts and metadata.</a:t>
            </a:r>
          </a:p>
          <a:p xmlns:a="http://schemas.openxmlformats.org/drawingml/2006/main">
            <a:r>
              <a:t/>
            </a:r>
          </a:p>
          <a:p xmlns:a="http://schemas.openxmlformats.org/drawingml/2006/main">
            <a:r>
              <a:t>Sources: docs/project_plan.md; run.sh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Each model predicts the same original outcome on the same held-out words. The high-dimensional models retain unpenalized controls and surprisal, with ridge only on the added representation. We hold out one whole text at a time and tune the penalty inside three grouped training folds. We also select the reported hook inside training data. We do not pick the best test-layer result.</a:t>
            </a:r>
          </a:p>
          <a:p xmlns:a="http://schemas.openxmlformats.org/drawingml/2006/main">
            <a:r>
              <a:t/>
            </a:r>
          </a:p>
          <a:p xmlns:a="http://schemas.openxmlformats.org/drawingml/2006/main">
            <a:r>
              <a:t>Sources: docs/sae_regression_methods.md; configs/sae_regression.json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The corrected baseline contradicts the original weak-surprisal narrative. With lexical and position controls and two spillover lags, surprisal adds held-out predictive value in both datasets. These gains are over controls only. Later SAE gains use the stronger controls-plus-surprisal baseline. The model has a 1,024-token limit, but the primary representation comparison uses matched 128-token windows.</a:t>
            </a:r>
          </a:p>
          <a:p xmlns:a="http://schemas.openxmlformats.org/drawingml/2006/main">
            <a:r>
              <a:t/>
            </a:r>
          </a:p>
          <a:p xmlns:a="http://schemas.openxmlformats.org/drawingml/2006/main">
            <a:r>
              <a:t>Sources: results/baseline_bos/diagnostics/model_comparison.csv; docs/baseline_methods.md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75 seconds: All bars show gains beyond controls and surprisal. SAE features add predictive value in both corpora, with larger after-word gains. Provo favors the SAE readout. Natural Stories has larger dense-state gains. After-word features observe the target word, so their gain can include lexical information and is not evidence of anticipation. The next slide gives the paired comparison and its uncertainty.</a:t>
            </a:r>
          </a:p>
          <a:p xmlns:a="http://schemas.openxmlformats.org/drawingml/2006/main">
            <a:r>
              <a:t/>
            </a:r>
          </a:p>
          <a:p xmlns:a="http://schemas.openxmlformats.org/drawingml/2006/main">
            <a:r>
              <a:t>Sources: results/sae_regression_v2/diagnostics/primary_results.csv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Positive differences favor SAE. Negative differences favor dense states. Provo favors SAE for both state timings. Natural Stories favors dense states after the word, while its before-word interval includes zero. These conditional intervals do not include model-refitting variation or multiple-comparison correction. This result supports a representation comparison, not a general claim that sparse models are more human-like.</a:t>
            </a:r>
          </a:p>
          <a:p xmlns:a="http://schemas.openxmlformats.org/drawingml/2006/main">
            <a:r>
              <a:t/>
            </a:r>
          </a:p>
          <a:p xmlns:a="http://schemas.openxmlformats.org/drawingml/2006/main">
            <a:r>
              <a:t>Sources: results/sae_regression_v2/diagnostics/primary_results.csv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In every Provo outer fold, inner validation selects L01 for the SAE model, before and after the word. This hook is before the first transformer block. It contains token and position information before contextual mixing by the transformer blocks. That is a strong reason to test lexical and position explanations before naming a syntax or integration mechanism. Natural Stories uses later hooks, but that does not isolate reading modality as the cause.</a:t>
            </a:r>
          </a:p>
          <a:p xmlns:a="http://schemas.openxmlformats.org/drawingml/2006/main">
            <a:r>
              <a:t/>
            </a:r>
          </a:p>
          <a:p xmlns:a="http://schemas.openxmlformats.org/drawingml/2006/main">
            <a:r>
              <a:t>Sources: results/sae_regression_v2/diagnostics/selected_hooks.csv; src/surprisal.py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Applying an SAE and replacing the hidden state with its reconstruction can alter the model. In a small fixed window sample, preserving each rolling-window start sharply reduces reconstruction damage at early Natural Stories hooks. This is a boundary sensitivity, and not proof that every state reconstructs faithfully. We need broader fidelity tests before attributing a behavioral change to one feature.</a:t>
            </a:r>
          </a:p>
          <a:p xmlns:a="http://schemas.openxmlformats.org/drawingml/2006/main">
            <a:r>
              <a:t/>
            </a:r>
          </a:p>
          <a:p xmlns:a="http://schemas.openxmlformats.org/drawingml/2006/main">
            <a:r>
              <a:t>Sources: results/sae_bos/diagnostics/behavior_summary.csv; docs/sae_methods.md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In Natural Stories story eight, the earliest-hook feature 16980 has tiny training activations but a much larger held-out activation. Dividing by its tiny training standard deviation creates an extreme input to the linear readout. Saved coefficients reproduce the resulting errors. The original inner selector never chose this hook for Natural Stories, so the main selected-model results are unaffected. This prompted a declared follow-up sensitivity, not deletion of a difficult word.</a:t>
            </a:r>
          </a:p>
          <a:p xmlns:a="http://schemas.openxmlformats.org/drawingml/2006/main">
            <a:r>
              <a:t/>
            </a:r>
          </a:p>
          <a:p xmlns:a="http://schemas.openxmlformats.org/drawingml/2006/main">
            <a:r>
              <a:t>Sources: results/sae_regression_v2/diagnostics/feature_shift_audit.csv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75 seconds: I ran the new check on the fixed earliest hook in both corpora, keeping the same nested splits and ridge grid. Provo’s after-word gain stays at about six and a half points. Natural Stories’ catastrophic errors disappear and this hook now adds modest predictive value. Its maximum absolute after-word error drops from 111.88 to 1.10 log milliseconds. This is a targeted exploratory sensitivity after observing a failure. It does not replace the original all-hook comparison or establish a new best hook.</a:t>
            </a:r>
          </a:p>
          <a:p xmlns:a="http://schemas.openxmlformats.org/drawingml/2006/main">
            <a:r>
              <a:t/>
            </a:r>
          </a:p>
          <a:p xmlns:a="http://schemas.openxmlformats.org/drawingml/2006/main">
            <a:r>
              <a:t>Sources: configs/scaling_sensitivity.json; results/scaling_sensitivity_v1/comparison.csv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70 seconds: The first priority is separating lexical and scale effects from the interpretability claim. Then nominate features using training data, test stability, and validate linguistic labels using independent texts and minimal pairs. Only after those steps should we change gains or ablate features in GPT-2. Broad reconstruction checks, identity interventions and matched random-feature controls are necessary to interpret the model effects. Participant-level RT robustness also remains part of the paper plan.</a:t>
            </a:r>
          </a:p>
          <a:p xmlns:a="http://schemas.openxmlformats.org/drawingml/2006/main">
            <a:r>
              <a:t/>
            </a:r>
          </a:p>
          <a:p xmlns:a="http://schemas.openxmlformats.org/drawingml/2006/main">
            <a:r>
              <a:t>Sources: docs/project_plan.md; docs/sae_prediction_findings.md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I would like the team to agree on the next experiment and on what constitutes a sufficient mechanistic claim. My recommendation is to prioritize lexical controls and scaling robustness, then identify a small reproducible feature set. We should also agree on whether participant-level analysis is necessary before feature interpretation or can run alongside it. A defensible contribution needs to explain a representation effect rather than only show improved prediction.</a:t>
            </a:r>
          </a:p>
          <a:p xmlns:a="http://schemas.openxmlformats.org/drawingml/2006/main">
            <a:r>
              <a:t/>
            </a:r>
          </a:p>
          <a:p xmlns:a="http://schemas.openxmlformats.org/drawingml/2006/main">
            <a:r>
              <a:t>Sources: docs/project_plan.md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asked. GPT-2 small is frozen, with pinned checkpoint revisions. There are twelve pre-block hooks and the final post-block residual. Prefix states precede the first subtoken, and post states use the last subtoken. Word surprisal sums subtoken surprisals. BOS supplies first-word conditioning. The primary comparison uses 128/64 windows for both representation and surprisal. Every preprocessing operation in regression fits on training data.</a:t>
            </a:r>
          </a:p>
          <a:p xmlns:a="http://schemas.openxmlformats.org/drawingml/2006/main">
            <a:r>
              <a:t/>
            </a:r>
          </a:p>
          <a:p xmlns:a="http://schemas.openxmlformats.org/drawingml/2006/main">
            <a:r>
              <a:t>Sources: src/surprisal.py; docs/sae_regression_methods.md; configs/sae_regression.json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asked about the professor’s original question. An SAE activation can be zero because of its encoding rule. A regression coefficient can be zero because of the fitting procedure, especially Lasso, but the current ridge readout is not feature selection. Experimental ablation is a separate intervention we choose. These should never be conflated. Multiplying a zero activation by a gain still produces zero, so investigating missing features would require a separately designed injection or patching experiment.</a:t>
            </a:r>
          </a:p>
          <a:p xmlns:a="http://schemas.openxmlformats.org/drawingml/2006/main">
            <a:r>
              <a:t/>
            </a:r>
          </a:p>
          <a:p xmlns:a="http://schemas.openxmlformats.org/drawingml/2006/main">
            <a:r>
              <a:t>Sources: docs/project_plan.md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if asked where to inspect results. The project saves raw predictions, fold choices and input hashes. The numbered notebooks are the current analysis workflow. Older outputs are superseded. The LaTeX notebook reads validated report tables. The scaling follow-up uses its own outputs and never overwrites the original analysis. Main caveats are aggregate RT, ten Natural Stories groups, exploration of these data, readout-capacity differences and incomplete mechanistic validation.</a:t>
            </a:r>
          </a:p>
          <a:p xmlns:a="http://schemas.openxmlformats.org/drawingml/2006/main">
            <a:r>
              <a:t/>
            </a:r>
          </a:p>
          <a:p xmlns:a="http://schemas.openxmlformats.org/drawingml/2006/main">
            <a:r>
              <a:t>Sources: run.sh; docs/presentation_workflow.md; docs/project_plan.md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29fcb266644d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3f866532d9451d" /><Relationship Type="http://schemas.openxmlformats.org/officeDocument/2006/relationships/slideLayout" Target="/ppt/slideLayouts/slideLayout1.xml" Id="Re7b778b7936c43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b778b7936c43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5e4f28c3624c8b" /><Relationship Type="http://schemas.openxmlformats.org/officeDocument/2006/relationships/notesSlide" Target="/ppt/notesSlides/notesSlide1.xml" Id="Rb3382b6b09a948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9c02de5b54499f" /><Relationship Type="http://schemas.openxmlformats.org/officeDocument/2006/relationships/notesSlide" Target="/ppt/notesSlides/notesSlide2.xml" Id="R0955ab00b2af4d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7195e5d2f94a4e" /><Relationship Type="http://schemas.openxmlformats.org/officeDocument/2006/relationships/notesSlide" Target="/ppt/notesSlides/notesSlide3.xml" Id="R9753976296f544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ec8eac4e494792" /><Relationship Type="http://schemas.openxmlformats.org/officeDocument/2006/relationships/notesSlide" Target="/ppt/notesSlides/notesSlide4.xml" Id="R05978b1a0a1b48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e3cbdd87b643d0" /><Relationship Type="http://schemas.openxmlformats.org/officeDocument/2006/relationships/notesSlide" Target="/ppt/notesSlides/notesSlide5.xml" Id="R315077a7833949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49be35b622433a" /><Relationship Type="http://schemas.openxmlformats.org/officeDocument/2006/relationships/notesSlide" Target="/ppt/notesSlides/notesSlide6.xml" Id="Rfedc1400c9aa49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74d80b9a3a4e24" /><Relationship Type="http://schemas.openxmlformats.org/officeDocument/2006/relationships/chart" Target="/ppt/slides/charts/chart1.xml" Id="R6d8a564d836e4b99" /><Relationship Type="http://schemas.openxmlformats.org/officeDocument/2006/relationships/notesSlide" Target="/ppt/notesSlides/notesSlide7.xml" Id="Ra12f979ba81341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e8a86d7d6b4e12" /><Relationship Type="http://schemas.openxmlformats.org/officeDocument/2006/relationships/notesSlide" Target="/ppt/notesSlides/notesSlide8.xml" Id="R5bdf1b320f8840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7dc89a019e4c9d" /><Relationship Type="http://schemas.openxmlformats.org/officeDocument/2006/relationships/notesSlide" Target="/ppt/notesSlides/notesSlide9.xml" Id="R341c4bcb728048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9495e564f5404e" /><Relationship Type="http://schemas.openxmlformats.org/officeDocument/2006/relationships/notesSlide" Target="/ppt/notesSlides/notesSlide10.xml" Id="Rc8dfb873710d47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e90371c2cd4b40" /><Relationship Type="http://schemas.openxmlformats.org/officeDocument/2006/relationships/notesSlide" Target="/ppt/notesSlides/notesSlide11.xml" Id="Ra322b13ca21842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d191f7ddc14fa2" /><Relationship Type="http://schemas.openxmlformats.org/officeDocument/2006/relationships/notesSlide" Target="/ppt/notesSlides/notesSlide12.xml" Id="R4079be200f8046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0c0a4ab147848f3" /><Relationship Type="http://schemas.openxmlformats.org/officeDocument/2006/relationships/notesSlide" Target="/ppt/notesSlides/notesSlide13.xml" Id="R3fdbab83da0742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0ad63fe1834d87" /><Relationship Type="http://schemas.openxmlformats.org/officeDocument/2006/relationships/notesSlide" Target="/ppt/notesSlides/notesSlide14.xml" Id="Rc1cab16161f34b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cddb82da84b4875" /><Relationship Type="http://schemas.openxmlformats.org/officeDocument/2006/relationships/notesSlide" Target="/ppt/notesSlides/notesSlide15.xml" Id="R3cff18b74c4747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e2361c9657044c6" /><Relationship Type="http://schemas.openxmlformats.org/officeDocument/2006/relationships/notesSlide" Target="/ppt/notesSlides/notesSlide16.xml" Id="Rcd9c5ff2f2724d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d1380d1bf944ef" /><Relationship Type="http://schemas.openxmlformats.org/officeDocument/2006/relationships/notesSlide" Target="/ppt/notesSlides/notesSlide17.xml" Id="R11e6cb2849ee43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Dense state</c:v>
          </c:tx>
          <c:spPr>
            <a:solidFill xmlns:a="http://schemas.openxmlformats.org/drawingml/2006/main">
              <a:srgbClr val="26745C"/>
            </a:solidFill>
          </c:spPr>
          <c:cat>
            <c:strRef>
              <c:f>'Chart Data'!$A$2:$A$5</c:f>
              <c:strCache>
                <c:ptCount val="4"/>
                <c:pt idx="0">
                  <c:v>Provo before</c:v>
                </c:pt>
                <c:pt idx="1">
                  <c:v>Provo after</c:v>
                </c:pt>
                <c:pt idx="2">
                  <c:v>Natural Stories before</c:v>
                </c:pt>
                <c:pt idx="3">
                  <c:v>Natural Stories after</c:v>
                </c:pt>
              </c:strCache>
            </c:strRef>
          </c:cat>
          <c:val>
            <c:numRef>
              <c:f>'Chart Data'!$B$2:$B$5</c:f>
              <c:numCache>
                <c:formatCode>0.00</c:formatCode>
                <c:ptCount val="4"/>
                <c:pt idx="0">
                  <c:v>1.07</c:v>
                </c:pt>
                <c:pt idx="1">
                  <c:v>2.8</c:v>
                </c:pt>
                <c:pt idx="2">
                  <c:v>2.61</c:v>
                </c:pt>
                <c:pt idx="3">
                  <c:v>6.23</c:v>
                </c:pt>
              </c:numCache>
            </c:numRef>
          </c:val>
        </c:ser>
        <c:ser>
          <c:idx val="1"/>
          <c:order val="1"/>
          <c:tx>
            <c:v>SAE features</c:v>
          </c:tx>
          <c:spPr>
            <a:solidFill xmlns:a="http://schemas.openxmlformats.org/drawingml/2006/main">
              <a:srgbClr val="713C6B"/>
            </a:solidFill>
          </c:spPr>
          <c:cat>
            <c:strRef>
              <c:f>'Chart Data'!$C$2:$C$5</c:f>
              <c:strCache>
                <c:ptCount val="4"/>
                <c:pt idx="0">
                  <c:v>Provo before</c:v>
                </c:pt>
                <c:pt idx="1">
                  <c:v>Provo after</c:v>
                </c:pt>
                <c:pt idx="2">
                  <c:v>Natural Stories before</c:v>
                </c:pt>
                <c:pt idx="3">
                  <c:v>Natural Stories after</c:v>
                </c:pt>
              </c:strCache>
            </c:strRef>
          </c:cat>
          <c:val>
            <c:numRef>
              <c:f>'Chart Data'!$D$2:$D$5</c:f>
              <c:numCache>
                <c:formatCode>0.00</c:formatCode>
                <c:ptCount val="4"/>
                <c:pt idx="0">
                  <c:v>2.87</c:v>
                </c:pt>
                <c:pt idx="1">
                  <c:v>6.58</c:v>
                </c:pt>
                <c:pt idx="2">
                  <c:v>0.82</c:v>
                </c:pt>
                <c:pt idx="3">
                  <c:v>3.84</c:v>
                </c:pt>
              </c:numCache>
            </c:numRef>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1"/>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8"/>
          <c:min val="0"/>
        </c:scaling>
        <c:delete val="0"/>
        <c:axPos val="l"/>
        <c:majorGridlines>
          <c:spPr>
            <a:ln xmlns:a="http://schemas.openxmlformats.org/drawingml/2006/main" w="9525">
              <a:solidFill>
                <a:srgbClr val="E8E3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8964F18-291A-4461-8DFE-A1A0F3AA6895}"/>
              </a:ext>
            </a:extLst>
          </p:cNvPr>
          <p:cNvSpPr>
            <a:spLocks xmlns:a="http://schemas.openxmlformats.org/drawingml/2006/main" noGrp="1"/>
          </p:cNvSpPr>
          <p:nvPr/>
        </p:nvSpPr>
        <p:spPr>
          <a:xfrm xmlns:a="http://schemas.openxmlformats.org/drawingml/2006/main">
            <a:off x="609600" y="1504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713C6B"/>
                </a:solidFill>
                <a:latin typeface="Arial"/>
                <a:ea typeface="Arial"/>
                <a:cs typeface="Arial"/>
              </a:defRPr>
            </a:pPr>
            <a:r>
              <a:rPr sz="5700" b="1">
                <a:solidFill>
                  <a:srgbClr val="713C6B"/>
                </a:solidFill>
                <a:latin typeface="Arial"/>
                <a:ea typeface="Arial"/>
                <a:cs typeface="Arial"/>
              </a:rPr>
              <a:t>SparseRT</a:t>
            </a:r>
          </a:p>
        </p:txBody>
      </p:sp>
      <p:sp>
        <p:nvSpPr>
          <p:cNvPr id="2" name="">
            <a:extLst xmlns:a="http://schemas.openxmlformats.org/drawingml/2006/main">
              <a:ext uri="{FF2B5EF4-FFF2-40B4-BE49-F238E27FC236}">
                <a16:creationId xmlns:a16="http://schemas.microsoft.com/office/drawing/2014/main" id="{6B219C2F-4138-415E-A443-593A1B4FF507}"/>
              </a:ext>
            </a:extLst>
          </p:cNvPr>
          <p:cNvSpPr>
            <a:spLocks xmlns:a="http://schemas.openxmlformats.org/drawingml/2006/main" noGrp="1"/>
          </p:cNvSpPr>
          <p:nvPr/>
        </p:nvSpPr>
        <p:spPr>
          <a:xfrm xmlns:a="http://schemas.openxmlformats.org/drawingml/2006/main">
            <a:off x="609600" y="262890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302C35"/>
                </a:solidFill>
                <a:latin typeface="Arial"/>
                <a:ea typeface="Arial"/>
                <a:cs typeface="Arial"/>
              </a:defRPr>
            </a:pPr>
            <a:r>
              <a:rPr sz="3300" b="0">
                <a:solidFill>
                  <a:srgbClr val="302C35"/>
                </a:solidFill>
                <a:latin typeface="Arial"/>
                <a:ea typeface="Arial"/>
                <a:cs typeface="Arial"/>
              </a:rPr>
              <a:t>Sparse language-model features</a:t>
            </a:r>
          </a:p>
          <a:p xmlns:a="http://schemas.openxmlformats.org/drawingml/2006/main">
            <a:pPr>
              <a:defRPr sz="3300" b="0">
                <a:solidFill>
                  <a:srgbClr val="302C35"/>
                </a:solidFill>
                <a:latin typeface="Arial"/>
                <a:ea typeface="Arial"/>
                <a:cs typeface="Arial"/>
              </a:defRPr>
            </a:pPr>
            <a:r>
              <a:rPr sz="3300" b="0">
                <a:solidFill>
                  <a:srgbClr val="302C35"/>
                </a:solidFill>
                <a:latin typeface="Arial"/>
                <a:ea typeface="Arial"/>
                <a:cs typeface="Arial"/>
              </a:rPr>
              <a:t>and human reading times</a:t>
            </a:r>
          </a:p>
        </p:txBody>
      </p:sp>
      <p:sp>
        <p:nvSpPr>
          <p:cNvPr id="3" name="">
            <a:extLst xmlns:a="http://schemas.openxmlformats.org/drawingml/2006/main">
              <a:ext uri="{FF2B5EF4-FFF2-40B4-BE49-F238E27FC236}">
                <a16:creationId xmlns:a16="http://schemas.microsoft.com/office/drawing/2014/main" id="{269CDB4A-1780-4636-9520-1B37ACF17BA2}"/>
              </a:ext>
            </a:extLst>
          </p:cNvPr>
          <p:cNvSpPr>
            <a:spLocks xmlns:a="http://schemas.openxmlformats.org/drawingml/2006/main" noGrp="1"/>
          </p:cNvSpPr>
          <p:nvPr/>
        </p:nvSpPr>
        <p:spPr>
          <a:xfrm xmlns:a="http://schemas.openxmlformats.org/drawingml/2006/main">
            <a:off x="609600" y="49720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6745C"/>
                </a:solidFill>
                <a:latin typeface="Arial"/>
                <a:ea typeface="Arial"/>
                <a:cs typeface="Arial"/>
              </a:defRPr>
            </a:pPr>
            <a:r>
              <a:rPr sz="1950" b="0">
                <a:solidFill>
                  <a:srgbClr val="26745C"/>
                </a:solidFill>
                <a:latin typeface="Arial"/>
                <a:ea typeface="Arial"/>
                <a:cs typeface="Arial"/>
              </a:rPr>
              <a:t>Research progress meeting</a:t>
            </a:r>
          </a:p>
          <a:p xmlns:a="http://schemas.openxmlformats.org/drawingml/2006/main">
            <a:pPr>
              <a:defRPr sz="1950" b="0">
                <a:solidFill>
                  <a:srgbClr val="26745C"/>
                </a:solidFill>
                <a:latin typeface="Arial"/>
                <a:ea typeface="Arial"/>
                <a:cs typeface="Arial"/>
              </a:defRPr>
            </a:pPr>
            <a:r>
              <a:rPr sz="1950" b="0">
                <a:solidFill>
                  <a:srgbClr val="26745C"/>
                </a:solidFill>
                <a:latin typeface="Arial"/>
                <a:ea typeface="Arial"/>
                <a:cs typeface="Arial"/>
              </a:rPr>
              <a:t>21 September 2026</a:t>
            </a:r>
          </a:p>
        </p:txBody>
      </p:sp>
    </p:spTree>
    <p:extLst>
      <p:ext uri="{BB962C8B-B14F-4D97-AF65-F5344CB8AC3E}">
        <p14:creationId xmlns:p14="http://schemas.microsoft.com/office/powerpoint/2010/main" val="4918015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335D67-5C33-4EB2-8B37-8AB5A26D420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Research question and evidence levels</a:t>
            </a:r>
          </a:p>
        </p:txBody>
      </p:sp>
      <p:sp>
        <p:nvSpPr>
          <p:cNvPr id="2" name="">
            <a:extLst xmlns:a="http://schemas.openxmlformats.org/drawingml/2006/main">
              <a:ext uri="{FF2B5EF4-FFF2-40B4-BE49-F238E27FC236}">
                <a16:creationId xmlns:a16="http://schemas.microsoft.com/office/drawing/2014/main" id="{65F43A54-C05B-4012-B179-7075C5EFBEE8}"/>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Editing GPT-2 changes model predictions. It does not change the observed human RTs.</a:t>
            </a:r>
          </a:p>
        </p:txBody>
      </p:sp>
      <p:sp>
        <p:nvSpPr>
          <p:cNvPr id="3" name="">
            <a:extLst xmlns:a="http://schemas.openxmlformats.org/drawingml/2006/main">
              <a:ext uri="{FF2B5EF4-FFF2-40B4-BE49-F238E27FC236}">
                <a16:creationId xmlns:a16="http://schemas.microsoft.com/office/drawing/2014/main" id="{90425B44-8DA8-4FCE-898E-99FAE1F0C2EB}"/>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F8CD42CB-EF4E-48D8-8788-81ED4946DE08}"/>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Prediction: initial results complete</a:t>
            </a:r>
          </a:p>
        </p:txBody>
      </p:sp>
      <p:sp>
        <p:nvSpPr>
          <p:cNvPr id="5" name="">
            <a:extLst xmlns:a="http://schemas.openxmlformats.org/drawingml/2006/main">
              <a:ext uri="{FF2B5EF4-FFF2-40B4-BE49-F238E27FC236}">
                <a16:creationId xmlns:a16="http://schemas.microsoft.com/office/drawing/2014/main" id="{7AB70EA9-20F9-46E2-B029-3312A42E21FF}"/>
              </a:ext>
            </a:extLst>
          </p:cNvPr>
          <p:cNvSpPr>
            <a:spLocks xmlns:a="http://schemas.openxmlformats.org/drawingml/2006/main" noGrp="1"/>
          </p:cNvSpPr>
          <p:nvPr/>
        </p:nvSpPr>
        <p:spPr>
          <a:xfrm xmlns:a="http://schemas.openxmlformats.org/drawingml/2006/main">
            <a:off x="609600" y="2038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Do SAE features add information beyond lexical controls and surprisal?</a:t>
            </a:r>
          </a:p>
        </p:txBody>
      </p:sp>
      <p:sp>
        <p:nvSpPr>
          <p:cNvPr id="6" name="">
            <a:extLst xmlns:a="http://schemas.openxmlformats.org/drawingml/2006/main">
              <a:ext uri="{FF2B5EF4-FFF2-40B4-BE49-F238E27FC236}">
                <a16:creationId xmlns:a16="http://schemas.microsoft.com/office/drawing/2014/main" id="{69A3DD96-2E30-48A8-A1AC-6145F2B6D5A2}"/>
              </a:ext>
            </a:extLst>
          </p:cNvPr>
          <p:cNvSpPr>
            <a:spLocks xmlns:a="http://schemas.openxmlformats.org/drawingml/2006/main" noGrp="1"/>
          </p:cNvSpPr>
          <p:nvPr/>
        </p:nvSpPr>
        <p:spPr>
          <a:xfrm xmlns:a="http://schemas.openxmlformats.org/drawingml/2006/main">
            <a:off x="609600" y="2952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Interpretation: next research phase</a:t>
            </a:r>
          </a:p>
        </p:txBody>
      </p:sp>
      <p:sp>
        <p:nvSpPr>
          <p:cNvPr id="7" name="">
            <a:extLst xmlns:a="http://schemas.openxmlformats.org/drawingml/2006/main">
              <a:ext uri="{FF2B5EF4-FFF2-40B4-BE49-F238E27FC236}">
                <a16:creationId xmlns:a16="http://schemas.microsoft.com/office/drawing/2014/main" id="{009D1DB1-EC63-43F3-858B-F616D5456456}"/>
              </a:ext>
            </a:extLst>
          </p:cNvPr>
          <p:cNvSpPr>
            <a:spLocks xmlns:a="http://schemas.openxmlformats.org/drawingml/2006/main" noGrp="1"/>
          </p:cNvSpPr>
          <p:nvPr/>
        </p:nvSpPr>
        <p:spPr>
          <a:xfrm xmlns:a="http://schemas.openxmlformats.org/drawingml/2006/main">
            <a:off x="609600" y="3409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Which reproducible features track independently validated linguistic patterns?</a:t>
            </a:r>
          </a:p>
        </p:txBody>
      </p:sp>
      <p:sp>
        <p:nvSpPr>
          <p:cNvPr id="8" name="">
            <a:extLst xmlns:a="http://schemas.openxmlformats.org/drawingml/2006/main">
              <a:ext uri="{FF2B5EF4-FFF2-40B4-BE49-F238E27FC236}">
                <a16:creationId xmlns:a16="http://schemas.microsoft.com/office/drawing/2014/main" id="{6FD92CEC-FC75-4A2B-A097-733B4C9B839B}"/>
              </a:ext>
            </a:extLst>
          </p:cNvPr>
          <p:cNvSpPr>
            <a:spLocks xmlns:a="http://schemas.openxmlformats.org/drawingml/2006/main" noGrp="1"/>
          </p:cNvSpPr>
          <p:nvPr/>
        </p:nvSpPr>
        <p:spPr>
          <a:xfrm xmlns:a="http://schemas.openxmlformats.org/drawingml/2006/main">
            <a:off x="609600" y="4324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Intervention: planned</a:t>
            </a:r>
          </a:p>
        </p:txBody>
      </p:sp>
      <p:sp>
        <p:nvSpPr>
          <p:cNvPr id="9" name="">
            <a:extLst xmlns:a="http://schemas.openxmlformats.org/drawingml/2006/main">
              <a:ext uri="{FF2B5EF4-FFF2-40B4-BE49-F238E27FC236}">
                <a16:creationId xmlns:a16="http://schemas.microsoft.com/office/drawing/2014/main" id="{36C81EBB-7CFF-4914-A91D-A9BFF554E392}"/>
              </a:ext>
            </a:extLst>
          </p:cNvPr>
          <p:cNvSpPr>
            <a:spLocks xmlns:a="http://schemas.openxmlformats.org/drawingml/2006/main" noGrp="1"/>
          </p:cNvSpPr>
          <p:nvPr/>
        </p:nvSpPr>
        <p:spPr>
          <a:xfrm xmlns:a="http://schemas.openxmlformats.org/drawingml/2006/main">
            <a:off x="609600" y="4781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Do controlled feature changes alter model predictions and RT alignment?</a:t>
            </a:r>
          </a:p>
        </p:txBody>
      </p:sp>
    </p:spTree>
    <p:extLst>
      <p:ext uri="{BB962C8B-B14F-4D97-AF65-F5344CB8AC3E}">
        <p14:creationId xmlns:p14="http://schemas.microsoft.com/office/powerpoint/2010/main" val="650919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C96041-3C90-4876-8190-98953F5F968C}"/>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Data and outcome definition</a:t>
            </a:r>
          </a:p>
        </p:txBody>
      </p:sp>
      <p:sp>
        <p:nvSpPr>
          <p:cNvPr id="2" name="">
            <a:extLst xmlns:a="http://schemas.openxmlformats.org/drawingml/2006/main">
              <a:ext uri="{FF2B5EF4-FFF2-40B4-BE49-F238E27FC236}">
                <a16:creationId xmlns:a16="http://schemas.microsoft.com/office/drawing/2014/main" id="{FE2A3FFC-A89C-4FC0-8EE9-2858F6270D30}"/>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Current analysis predicts word/region means. Participant-level uncertainty remains to be assessed.</a:t>
            </a:r>
          </a:p>
        </p:txBody>
      </p:sp>
      <p:sp>
        <p:nvSpPr>
          <p:cNvPr id="3" name="">
            <a:extLst xmlns:a="http://schemas.openxmlformats.org/drawingml/2006/main">
              <a:ext uri="{FF2B5EF4-FFF2-40B4-BE49-F238E27FC236}">
                <a16:creationId xmlns:a16="http://schemas.microsoft.com/office/drawing/2014/main" id="{478ADC6B-ECBF-49F7-86F6-79D34EF62D41}"/>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3</a:t>
            </a:r>
          </a:p>
        </p:txBody>
      </p:sp>
      <p:graphicFrame>
        <p:nvGraphicFramePr>
          <p:cNvPr id="10" name=""/>
          <p:cNvGraphicFramePr/>
          <p:nvPr/>
        </p:nvGraphicFramePr>
        <p:xfrm>
          <a:off xmlns:a="http://schemas.openxmlformats.org/drawingml/2006/main" x="609600" y="1714500"/>
          <a:ext xmlns:a="http://schemas.openxmlformats.org/drawingml/2006/main" cx="10972800" cy="2286000"/>
        </p:xfrm>
        <a:graphic xmlns:a="http://schemas.openxmlformats.org/drawingml/2006/main">
          <a:graphicData uri="http://schemas.openxmlformats.org/drawingml/2006/table">
            <a:tbl>
              <a:tblPr firstRow="0" bandRow="0"/>
              <a:tblGrid>
                <a:gridCol w="2381250"/>
                <a:gridCol w="2095500"/>
                <a:gridCol w="1333500"/>
                <a:gridCol w="5162550"/>
              </a:tblGrid>
              <a:tr h="762000">
                <a:tc>
                  <a:txBody>
                    <a:bodyPr/>
                    <a:lstStyle/>
                    <a:p>
                      <a:r>
                        <a:rPr sz="2100" b="1">
                          <a:solidFill>
                            <a:srgbClr val="FFFFFF"/>
                          </a:solidFill>
                          <a:latin typeface="Arial"/>
                          <a:ea typeface="Arial"/>
                          <a:cs typeface="Arial"/>
                        </a:rPr>
                        <a:t>Corpus</a:t>
                      </a:r>
                    </a:p>
                  </a:txBody>
                  <a:tcPr marL="91440" marR="91440" marT="45720" marB="45720">
                    <a:solidFill>
                      <a:srgbClr val="713C6B"/>
                    </a:solidFill>
                  </a:tcPr>
                </a:tc>
                <a:tc>
                  <a:txBody>
                    <a:bodyPr/>
                    <a:lstStyle/>
                    <a:p>
                      <a:r>
                        <a:rPr sz="2100" b="1">
                          <a:solidFill>
                            <a:srgbClr val="FFFFFF"/>
                          </a:solidFill>
                          <a:latin typeface="Arial"/>
                          <a:ea typeface="Arial"/>
                          <a:cs typeface="Arial"/>
                        </a:rPr>
                        <a:t>Units</a:t>
                      </a:r>
                    </a:p>
                  </a:txBody>
                  <a:tcPr marL="91440" marR="91440" marT="45720" marB="45720">
                    <a:solidFill>
                      <a:srgbClr val="713C6B"/>
                    </a:solidFill>
                  </a:tcPr>
                </a:tc>
                <a:tc>
                  <a:txBody>
                    <a:bodyPr/>
                    <a:lstStyle/>
                    <a:p>
                      <a:r>
                        <a:rPr sz="2100" b="1">
                          <a:solidFill>
                            <a:srgbClr val="FFFFFF"/>
                          </a:solidFill>
                          <a:latin typeface="Arial"/>
                          <a:ea typeface="Arial"/>
                          <a:cs typeface="Arial"/>
                        </a:rPr>
                        <a:t>Texts</a:t>
                      </a:r>
                    </a:p>
                  </a:txBody>
                  <a:tcPr marL="91440" marR="91440" marT="45720" marB="45720">
                    <a:solidFill>
                      <a:srgbClr val="713C6B"/>
                    </a:solidFill>
                  </a:tcPr>
                </a:tc>
                <a:tc>
                  <a:txBody>
                    <a:bodyPr/>
                    <a:lstStyle/>
                    <a:p>
                      <a:r>
                        <a:rPr sz="2100" b="1">
                          <a:solidFill>
                            <a:srgbClr val="FFFFFF"/>
                          </a:solidFill>
                          <a:latin typeface="Arial"/>
                          <a:ea typeface="Arial"/>
                          <a:cs typeface="Arial"/>
                        </a:rPr>
                        <a:t>Reading-time measure</a:t>
                      </a:r>
                    </a:p>
                  </a:txBody>
                  <a:tcPr marL="91440" marR="91440" marT="45720" marB="45720">
                    <a:solidFill>
                      <a:srgbClr val="713C6B"/>
                    </a:solidFill>
                  </a:tcPr>
                </a:tc>
              </a:tr>
              <a:tr h="762000">
                <a:tc>
                  <a:txBody>
                    <a:bodyPr/>
                    <a:lstStyle/>
                    <a:p>
                      <a:r>
                        <a:rPr sz="2100" b="0">
                          <a:solidFill>
                            <a:srgbClr val="302C35"/>
                          </a:solidFill>
                          <a:latin typeface="Arial"/>
                          <a:ea typeface="Arial"/>
                          <a:cs typeface="Arial"/>
                        </a:rPr>
                        <a:t>Provo</a:t>
                      </a:r>
                    </a:p>
                  </a:txBody>
                  <a:tcPr marL="91440" marR="91440" marT="45720" marB="45720">
                    <a:solidFill>
                      <a:srgbClr val="F7F5F6"/>
                    </a:solidFill>
                  </a:tcPr>
                </a:tc>
                <a:tc>
                  <a:txBody>
                    <a:bodyPr/>
                    <a:lstStyle/>
                    <a:p>
                      <a:r>
                        <a:rPr sz="2100" b="0">
                          <a:solidFill>
                            <a:srgbClr val="302C35"/>
                          </a:solidFill>
                          <a:latin typeface="Arial"/>
                          <a:ea typeface="Arial"/>
                          <a:cs typeface="Arial"/>
                        </a:rPr>
                        <a:t>2,743 regions</a:t>
                      </a:r>
                    </a:p>
                  </a:txBody>
                  <a:tcPr marL="91440" marR="91440" marT="45720" marB="45720">
                    <a:solidFill>
                      <a:srgbClr val="F7F5F6"/>
                    </a:solidFill>
                  </a:tcPr>
                </a:tc>
                <a:tc>
                  <a:txBody>
                    <a:bodyPr/>
                    <a:lstStyle/>
                    <a:p>
                      <a:r>
                        <a:rPr sz="2100" b="0">
                          <a:solidFill>
                            <a:srgbClr val="302C35"/>
                          </a:solidFill>
                          <a:latin typeface="Arial"/>
                          <a:ea typeface="Arial"/>
                          <a:cs typeface="Arial"/>
                        </a:rPr>
                        <a:t>55</a:t>
                      </a:r>
                    </a:p>
                  </a:txBody>
                  <a:tcPr marL="91440" marR="91440" marT="45720" marB="45720">
                    <a:solidFill>
                      <a:srgbClr val="F7F5F6"/>
                    </a:solidFill>
                  </a:tcPr>
                </a:tc>
                <a:tc>
                  <a:txBody>
                    <a:bodyPr/>
                    <a:lstStyle/>
                    <a:p>
                      <a:r>
                        <a:rPr sz="2100" b="0">
                          <a:solidFill>
                            <a:srgbClr val="302C35"/>
                          </a:solidFill>
                          <a:latin typeface="Arial"/>
                          <a:ea typeface="Arial"/>
                          <a:cs typeface="Arial"/>
                        </a:rPr>
                        <a:t>First fixation duration</a:t>
                      </a:r>
                    </a:p>
                  </a:txBody>
                  <a:tcPr marL="91440" marR="91440" marT="45720" marB="45720">
                    <a:solidFill>
                      <a:srgbClr val="F7F5F6"/>
                    </a:solidFill>
                  </a:tcPr>
                </a:tc>
              </a:tr>
              <a:tr h="762000">
                <a:tc>
                  <a:txBody>
                    <a:bodyPr/>
                    <a:lstStyle/>
                    <a:p>
                      <a:r>
                        <a:rPr sz="2100" b="0">
                          <a:solidFill>
                            <a:srgbClr val="302C35"/>
                          </a:solidFill>
                          <a:latin typeface="Arial"/>
                          <a:ea typeface="Arial"/>
                          <a:cs typeface="Arial"/>
                        </a:rPr>
                        <a:t>Natural Stories</a:t>
                      </a:r>
                    </a:p>
                  </a:txBody>
                  <a:tcPr marL="91440" marR="91440" marT="45720" marB="45720">
                    <a:solidFill>
                      <a:srgbClr val="FFFFFF"/>
                    </a:solidFill>
                  </a:tcPr>
                </a:tc>
                <a:tc>
                  <a:txBody>
                    <a:bodyPr/>
                    <a:lstStyle/>
                    <a:p>
                      <a:r>
                        <a:rPr sz="2100" b="0">
                          <a:solidFill>
                            <a:srgbClr val="302C35"/>
                          </a:solidFill>
                          <a:latin typeface="Arial"/>
                          <a:ea typeface="Arial"/>
                          <a:cs typeface="Arial"/>
                        </a:rPr>
                        <a:t>10,256 words</a:t>
                      </a:r>
                    </a:p>
                  </a:txBody>
                  <a:tcPr marL="91440" marR="91440" marT="45720" marB="45720">
                    <a:solidFill>
                      <a:srgbClr val="FFFFFF"/>
                    </a:solidFill>
                  </a:tcPr>
                </a:tc>
                <a:tc>
                  <a:txBody>
                    <a:bodyPr/>
                    <a:lstStyle/>
                    <a:p>
                      <a:r>
                        <a:rPr sz="2100" b="0">
                          <a:solidFill>
                            <a:srgbClr val="302C35"/>
                          </a:solidFill>
                          <a:latin typeface="Arial"/>
                          <a:ea typeface="Arial"/>
                          <a:cs typeface="Arial"/>
                        </a:rPr>
                        <a:t>10</a:t>
                      </a:r>
                    </a:p>
                  </a:txBody>
                  <a:tcPr marL="91440" marR="91440" marT="45720" marB="45720">
                    <a:solidFill>
                      <a:srgbClr val="FFFFFF"/>
                    </a:solidFill>
                  </a:tcPr>
                </a:tc>
                <a:tc>
                  <a:txBody>
                    <a:bodyPr/>
                    <a:lstStyle/>
                    <a:p>
                      <a:r>
                        <a:rPr sz="2100" b="0">
                          <a:solidFill>
                            <a:srgbClr val="302C35"/>
                          </a:solidFill>
                          <a:latin typeface="Arial"/>
                          <a:ea typeface="Arial"/>
                          <a:cs typeface="Arial"/>
                        </a:rPr>
                        <a:t>Self-paced reading time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8851611-AE85-4721-A38D-8B2415902EB2}"/>
              </a:ext>
            </a:extLst>
          </p:cNvPr>
          <p:cNvSpPr>
            <a:spLocks xmlns:a="http://schemas.openxmlformats.org/drawingml/2006/main" noGrp="1"/>
          </p:cNvSpPr>
          <p:nvPr/>
        </p:nvSpPr>
        <p:spPr>
          <a:xfrm xmlns:a="http://schemas.openxmlformats.org/drawingml/2006/main">
            <a:off x="609600" y="44577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745C"/>
                </a:solidFill>
                <a:latin typeface="Arial"/>
                <a:ea typeface="Arial"/>
                <a:cs typeface="Arial"/>
              </a:defRPr>
            </a:pPr>
            <a:r>
              <a:rPr sz="2250" b="1">
                <a:solidFill>
                  <a:srgbClr val="26745C"/>
                </a:solidFill>
                <a:latin typeface="Arial"/>
                <a:ea typeface="Arial"/>
                <a:cs typeface="Arial"/>
              </a:rPr>
              <a:t>Outcome: ln(arithmetic mean RT in milliseconds)</a:t>
            </a:r>
          </a:p>
        </p:txBody>
      </p:sp>
      <p:sp>
        <p:nvSpPr>
          <p:cNvPr id="6" name="">
            <a:extLst xmlns:a="http://schemas.openxmlformats.org/drawingml/2006/main">
              <a:ext uri="{FF2B5EF4-FFF2-40B4-BE49-F238E27FC236}">
                <a16:creationId xmlns:a16="http://schemas.microsoft.com/office/drawing/2014/main" id="{5B8F0D43-4AC7-4B62-9035-77DBB5E48A62}"/>
              </a:ext>
            </a:extLst>
          </p:cNvPr>
          <p:cNvSpPr>
            <a:spLocks xmlns:a="http://schemas.openxmlformats.org/drawingml/2006/main" noGrp="1"/>
          </p:cNvSpPr>
          <p:nvPr/>
        </p:nvSpPr>
        <p:spPr>
          <a:xfrm xmlns:a="http://schemas.openxmlformats.org/drawingml/2006/main">
            <a:off x="609600" y="51625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Full stimulus order preserves model context and word alignment.</a:t>
            </a:r>
          </a:p>
        </p:txBody>
      </p:sp>
    </p:spTree>
    <p:extLst>
      <p:ext uri="{BB962C8B-B14F-4D97-AF65-F5344CB8AC3E}">
        <p14:creationId xmlns:p14="http://schemas.microsoft.com/office/powerpoint/2010/main" val="15029211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61E146-04BF-45C0-9706-981CC9D3503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Workflow and current progress</a:t>
            </a:r>
          </a:p>
        </p:txBody>
      </p:sp>
      <p:sp>
        <p:nvSpPr>
          <p:cNvPr id="2" name="">
            <a:extLst xmlns:a="http://schemas.openxmlformats.org/drawingml/2006/main">
              <a:ext uri="{FF2B5EF4-FFF2-40B4-BE49-F238E27FC236}">
                <a16:creationId xmlns:a16="http://schemas.microsoft.com/office/drawing/2014/main" id="{3D25F4D2-21AA-431E-A3D6-06236FAA68FD}"/>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Completed outputs include aligned rows, pinned model/SAE revisions, fold metadata and saved predictions.</a:t>
            </a:r>
          </a:p>
        </p:txBody>
      </p:sp>
      <p:sp>
        <p:nvSpPr>
          <p:cNvPr id="3" name="">
            <a:extLst xmlns:a="http://schemas.openxmlformats.org/drawingml/2006/main">
              <a:ext uri="{FF2B5EF4-FFF2-40B4-BE49-F238E27FC236}">
                <a16:creationId xmlns:a16="http://schemas.microsoft.com/office/drawing/2014/main" id="{B5E9A2B1-C765-4D7E-A226-88120FE93187}"/>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4</a:t>
            </a:r>
          </a:p>
        </p:txBody>
      </p:sp>
      <p:graphicFrame>
        <p:nvGraphicFramePr>
          <p:cNvPr id="8" name=""/>
          <p:cNvGraphicFramePr/>
          <p:nvPr/>
        </p:nvGraphicFramePr>
        <p:xfrm>
          <a:off xmlns:a="http://schemas.openxmlformats.org/drawingml/2006/main" x="609600" y="1447800"/>
          <a:ext xmlns:a="http://schemas.openxmlformats.org/drawingml/2006/main" cx="10972800" cy="4267200"/>
        </p:xfrm>
        <a:graphic xmlns:a="http://schemas.openxmlformats.org/drawingml/2006/main">
          <a:graphicData uri="http://schemas.openxmlformats.org/drawingml/2006/table">
            <a:tbl>
              <a:tblPr firstRow="0" bandRow="0"/>
              <a:tblGrid>
                <a:gridCol w="2714625"/>
                <a:gridCol w="5191125"/>
                <a:gridCol w="3067050"/>
              </a:tblGrid>
              <a:tr h="609600">
                <a:tc>
                  <a:txBody>
                    <a:bodyPr/>
                    <a:lstStyle/>
                    <a:p>
                      <a:r>
                        <a:rPr sz="1725" b="1">
                          <a:solidFill>
                            <a:srgbClr val="FFFFFF"/>
                          </a:solidFill>
                          <a:latin typeface="Arial"/>
                          <a:ea typeface="Arial"/>
                          <a:cs typeface="Arial"/>
                        </a:rPr>
                        <a:t>Stage</a:t>
                      </a:r>
                    </a:p>
                  </a:txBody>
                  <a:tcPr marL="91440" marR="91440" marT="45720" marB="45720">
                    <a:solidFill>
                      <a:srgbClr val="713C6B"/>
                    </a:solidFill>
                  </a:tcPr>
                </a:tc>
                <a:tc>
                  <a:txBody>
                    <a:bodyPr/>
                    <a:lstStyle/>
                    <a:p>
                      <a:r>
                        <a:rPr sz="1725" b="1">
                          <a:solidFill>
                            <a:srgbClr val="FFFFFF"/>
                          </a:solidFill>
                          <a:latin typeface="Arial"/>
                          <a:ea typeface="Arial"/>
                          <a:cs typeface="Arial"/>
                        </a:rPr>
                        <a:t>Main output</a:t>
                      </a:r>
                    </a:p>
                  </a:txBody>
                  <a:tcPr marL="91440" marR="91440" marT="45720" marB="45720">
                    <a:solidFill>
                      <a:srgbClr val="713C6B"/>
                    </a:solidFill>
                  </a:tcPr>
                </a:tc>
                <a:tc>
                  <a:txBody>
                    <a:bodyPr/>
                    <a:lstStyle/>
                    <a:p>
                      <a:r>
                        <a:rPr sz="1725" b="1">
                          <a:solidFill>
                            <a:srgbClr val="FFFFFF"/>
                          </a:solidFill>
                          <a:latin typeface="Arial"/>
                          <a:ea typeface="Arial"/>
                          <a:cs typeface="Arial"/>
                        </a:rPr>
                        <a:t>Status</a:t>
                      </a:r>
                    </a:p>
                  </a:txBody>
                  <a:tcPr marL="91440" marR="91440" marT="45720" marB="45720">
                    <a:solidFill>
                      <a:srgbClr val="713C6B"/>
                    </a:solidFill>
                  </a:tcPr>
                </a:tc>
              </a:tr>
              <a:tr h="609600">
                <a:tc>
                  <a:txBody>
                    <a:bodyPr/>
                    <a:lstStyle/>
                    <a:p>
                      <a:r>
                        <a:rPr sz="1725" b="0">
                          <a:solidFill>
                            <a:srgbClr val="302C35"/>
                          </a:solidFill>
                          <a:latin typeface="Arial"/>
                          <a:ea typeface="Arial"/>
                          <a:cs typeface="Arial"/>
                        </a:rPr>
                        <a:t>1  Prepare corpora</a:t>
                      </a:r>
                    </a:p>
                  </a:txBody>
                  <a:tcPr marL="91440" marR="91440" marT="45720" marB="45720">
                    <a:solidFill>
                      <a:srgbClr val="F7F5F6"/>
                    </a:solidFill>
                  </a:tcPr>
                </a:tc>
                <a:tc>
                  <a:txBody>
                    <a:bodyPr/>
                    <a:lstStyle/>
                    <a:p>
                      <a:r>
                        <a:rPr sz="1725" b="0">
                          <a:solidFill>
                            <a:srgbClr val="302C35"/>
                          </a:solidFill>
                          <a:latin typeface="Arial"/>
                          <a:ea typeface="Arial"/>
                          <a:cs typeface="Arial"/>
                        </a:rPr>
                        <a:t>Aligned words, RTs and controls</a:t>
                      </a:r>
                    </a:p>
                  </a:txBody>
                  <a:tcPr marL="91440" marR="91440" marT="45720" marB="45720">
                    <a:solidFill>
                      <a:srgbClr val="F7F5F6"/>
                    </a:solidFill>
                  </a:tcPr>
                </a:tc>
                <a:tc>
                  <a:txBody>
                    <a:bodyPr/>
                    <a:lstStyle/>
                    <a:p>
                      <a:r>
                        <a:rPr sz="1725" b="0">
                          <a:solidFill>
                            <a:srgbClr val="302C35"/>
                          </a:solidFill>
                          <a:latin typeface="Arial"/>
                          <a:ea typeface="Arial"/>
                          <a:cs typeface="Arial"/>
                        </a:rPr>
                        <a:t>Complete</a:t>
                      </a:r>
                    </a:p>
                  </a:txBody>
                  <a:tcPr marL="91440" marR="91440" marT="45720" marB="45720">
                    <a:solidFill>
                      <a:srgbClr val="F7F5F6"/>
                    </a:solidFill>
                  </a:tcPr>
                </a:tc>
              </a:tr>
              <a:tr h="609600">
                <a:tc>
                  <a:txBody>
                    <a:bodyPr/>
                    <a:lstStyle/>
                    <a:p>
                      <a:r>
                        <a:rPr sz="1725" b="0">
                          <a:solidFill>
                            <a:srgbClr val="302C35"/>
                          </a:solidFill>
                          <a:latin typeface="Arial"/>
                          <a:ea typeface="Arial"/>
                          <a:cs typeface="Arial"/>
                        </a:rPr>
                        <a:t>2  Extract GPT-2 states</a:t>
                      </a:r>
                    </a:p>
                  </a:txBody>
                  <a:tcPr marL="91440" marR="91440" marT="45720" marB="45720">
                    <a:solidFill>
                      <a:srgbClr val="FFFFFF"/>
                    </a:solidFill>
                  </a:tcPr>
                </a:tc>
                <a:tc>
                  <a:txBody>
                    <a:bodyPr/>
                    <a:lstStyle/>
                    <a:p>
                      <a:r>
                        <a:rPr sz="1725" b="0">
                          <a:solidFill>
                            <a:srgbClr val="302C35"/>
                          </a:solidFill>
                          <a:latin typeface="Arial"/>
                          <a:ea typeface="Arial"/>
                          <a:cs typeface="Arial"/>
                        </a:rPr>
                        <a:t>Surprisal, before/after-word states</a:t>
                      </a:r>
                    </a:p>
                  </a:txBody>
                  <a:tcPr marL="91440" marR="91440" marT="45720" marB="45720">
                    <a:solidFill>
                      <a:srgbClr val="FFFFFF"/>
                    </a:solidFill>
                  </a:tcPr>
                </a:tc>
                <a:tc>
                  <a:txBody>
                    <a:bodyPr/>
                    <a:lstStyle/>
                    <a:p>
                      <a:r>
                        <a:rPr sz="1725" b="0">
                          <a:solidFill>
                            <a:srgbClr val="302C35"/>
                          </a:solidFill>
                          <a:latin typeface="Arial"/>
                          <a:ea typeface="Arial"/>
                          <a:cs typeface="Arial"/>
                        </a:rPr>
                        <a:t>Complete</a:t>
                      </a:r>
                    </a:p>
                  </a:txBody>
                  <a:tcPr marL="91440" marR="91440" marT="45720" marB="45720">
                    <a:solidFill>
                      <a:srgbClr val="FFFFFF"/>
                    </a:solidFill>
                  </a:tcPr>
                </a:tc>
              </a:tr>
              <a:tr h="609600">
                <a:tc>
                  <a:txBody>
                    <a:bodyPr/>
                    <a:lstStyle/>
                    <a:p>
                      <a:r>
                        <a:rPr sz="1725" b="0">
                          <a:solidFill>
                            <a:srgbClr val="302C35"/>
                          </a:solidFill>
                          <a:latin typeface="Arial"/>
                          <a:ea typeface="Arial"/>
                          <a:cs typeface="Arial"/>
                        </a:rPr>
                        <a:t>3  Apply SAEs</a:t>
                      </a:r>
                    </a:p>
                  </a:txBody>
                  <a:tcPr marL="91440" marR="91440" marT="45720" marB="45720">
                    <a:solidFill>
                      <a:srgbClr val="F7F5F6"/>
                    </a:solidFill>
                  </a:tcPr>
                </a:tc>
                <a:tc>
                  <a:txBody>
                    <a:bodyPr/>
                    <a:lstStyle/>
                    <a:p>
                      <a:r>
                        <a:rPr sz="1725" b="0">
                          <a:solidFill>
                            <a:srgbClr val="302C35"/>
                          </a:solidFill>
                          <a:latin typeface="Arial"/>
                          <a:ea typeface="Arial"/>
                          <a:cs typeface="Arial"/>
                        </a:rPr>
                        <a:t>Sparse features and fidelity checks</a:t>
                      </a:r>
                    </a:p>
                  </a:txBody>
                  <a:tcPr marL="91440" marR="91440" marT="45720" marB="45720">
                    <a:solidFill>
                      <a:srgbClr val="F7F5F6"/>
                    </a:solidFill>
                  </a:tcPr>
                </a:tc>
                <a:tc>
                  <a:txBody>
                    <a:bodyPr/>
                    <a:lstStyle/>
                    <a:p>
                      <a:r>
                        <a:rPr sz="1725" b="0">
                          <a:solidFill>
                            <a:srgbClr val="302C35"/>
                          </a:solidFill>
                          <a:latin typeface="Arial"/>
                          <a:ea typeface="Arial"/>
                          <a:cs typeface="Arial"/>
                        </a:rPr>
                        <a:t>Complete / sampled fidelity</a:t>
                      </a:r>
                    </a:p>
                  </a:txBody>
                  <a:tcPr marL="91440" marR="91440" marT="45720" marB="45720">
                    <a:solidFill>
                      <a:srgbClr val="F7F5F6"/>
                    </a:solidFill>
                  </a:tcPr>
                </a:tc>
              </a:tr>
              <a:tr h="609600">
                <a:tc>
                  <a:txBody>
                    <a:bodyPr/>
                    <a:lstStyle/>
                    <a:p>
                      <a:r>
                        <a:rPr sz="1725" b="0">
                          <a:solidFill>
                            <a:srgbClr val="302C35"/>
                          </a:solidFill>
                          <a:latin typeface="Arial"/>
                          <a:ea typeface="Arial"/>
                          <a:cs typeface="Arial"/>
                        </a:rPr>
                        <a:t>4  Evaluate prediction</a:t>
                      </a:r>
                    </a:p>
                  </a:txBody>
                  <a:tcPr marL="91440" marR="91440" marT="45720" marB="45720">
                    <a:solidFill>
                      <a:srgbClr val="FFFFFF"/>
                    </a:solidFill>
                  </a:tcPr>
                </a:tc>
                <a:tc>
                  <a:txBody>
                    <a:bodyPr/>
                    <a:lstStyle/>
                    <a:p>
                      <a:r>
                        <a:rPr sz="1725" b="0">
                          <a:solidFill>
                            <a:srgbClr val="302C35"/>
                          </a:solidFill>
                          <a:latin typeface="Arial"/>
                          <a:ea typeface="Arial"/>
                          <a:cs typeface="Arial"/>
                        </a:rPr>
                        <a:t>Nested story-held-out comparisons</a:t>
                      </a:r>
                    </a:p>
                  </a:txBody>
                  <a:tcPr marL="91440" marR="91440" marT="45720" marB="45720">
                    <a:solidFill>
                      <a:srgbClr val="FFFFFF"/>
                    </a:solidFill>
                  </a:tcPr>
                </a:tc>
                <a:tc>
                  <a:txBody>
                    <a:bodyPr/>
                    <a:lstStyle/>
                    <a:p>
                      <a:r>
                        <a:rPr sz="1725" b="0">
                          <a:solidFill>
                            <a:srgbClr val="302C35"/>
                          </a:solidFill>
                          <a:latin typeface="Arial"/>
                          <a:ea typeface="Arial"/>
                          <a:cs typeface="Arial"/>
                        </a:rPr>
                        <a:t>Complete + scaling follow-up</a:t>
                      </a:r>
                    </a:p>
                  </a:txBody>
                  <a:tcPr marL="91440" marR="91440" marT="45720" marB="45720">
                    <a:solidFill>
                      <a:srgbClr val="FFFFFF"/>
                    </a:solidFill>
                  </a:tcPr>
                </a:tc>
              </a:tr>
              <a:tr h="609600">
                <a:tc>
                  <a:txBody>
                    <a:bodyPr/>
                    <a:lstStyle/>
                    <a:p>
                      <a:r>
                        <a:rPr sz="1725" b="0">
                          <a:solidFill>
                            <a:srgbClr val="302C35"/>
                          </a:solidFill>
                          <a:latin typeface="Arial"/>
                          <a:ea typeface="Arial"/>
                          <a:cs typeface="Arial"/>
                        </a:rPr>
                        <a:t>5  Interpret features</a:t>
                      </a:r>
                    </a:p>
                  </a:txBody>
                  <a:tcPr marL="91440" marR="91440" marT="45720" marB="45720">
                    <a:solidFill>
                      <a:srgbClr val="F7F5F6"/>
                    </a:solidFill>
                  </a:tcPr>
                </a:tc>
                <a:tc>
                  <a:txBody>
                    <a:bodyPr/>
                    <a:lstStyle/>
                    <a:p>
                      <a:r>
                        <a:rPr sz="1725" b="0">
                          <a:solidFill>
                            <a:srgbClr val="302C35"/>
                          </a:solidFill>
                          <a:latin typeface="Arial"/>
                          <a:ea typeface="Arial"/>
                          <a:cs typeface="Arial"/>
                        </a:rPr>
                        <a:t>Stable candidates and linguistic tests</a:t>
                      </a:r>
                    </a:p>
                  </a:txBody>
                  <a:tcPr marL="91440" marR="91440" marT="45720" marB="45720">
                    <a:solidFill>
                      <a:srgbClr val="F7F5F6"/>
                    </a:solidFill>
                  </a:tcPr>
                </a:tc>
                <a:tc>
                  <a:txBody>
                    <a:bodyPr/>
                    <a:lstStyle/>
                    <a:p>
                      <a:r>
                        <a:rPr sz="1725" b="0">
                          <a:solidFill>
                            <a:srgbClr val="302C35"/>
                          </a:solidFill>
                          <a:latin typeface="Arial"/>
                          <a:ea typeface="Arial"/>
                          <a:cs typeface="Arial"/>
                        </a:rPr>
                        <a:t>Next</a:t>
                      </a:r>
                    </a:p>
                  </a:txBody>
                  <a:tcPr marL="91440" marR="91440" marT="45720" marB="45720">
                    <a:solidFill>
                      <a:srgbClr val="F7F5F6"/>
                    </a:solidFill>
                  </a:tcPr>
                </a:tc>
              </a:tr>
              <a:tr h="609600">
                <a:tc>
                  <a:txBody>
                    <a:bodyPr/>
                    <a:lstStyle/>
                    <a:p>
                      <a:r>
                        <a:rPr sz="1725" b="0">
                          <a:solidFill>
                            <a:srgbClr val="302C35"/>
                          </a:solidFill>
                          <a:latin typeface="Arial"/>
                          <a:ea typeface="Arial"/>
                          <a:cs typeface="Arial"/>
                        </a:rPr>
                        <a:t>6  Intervene in GPT-2</a:t>
                      </a:r>
                    </a:p>
                  </a:txBody>
                  <a:tcPr marL="91440" marR="91440" marT="45720" marB="45720">
                    <a:solidFill>
                      <a:srgbClr val="FFFFFF"/>
                    </a:solidFill>
                  </a:tcPr>
                </a:tc>
                <a:tc>
                  <a:txBody>
                    <a:bodyPr/>
                    <a:lstStyle/>
                    <a:p>
                      <a:r>
                        <a:rPr sz="1725" b="0">
                          <a:solidFill>
                            <a:srgbClr val="302C35"/>
                          </a:solidFill>
                          <a:latin typeface="Arial"/>
                          <a:ea typeface="Arial"/>
                          <a:cs typeface="Arial"/>
                        </a:rPr>
                        <a:t>Controlled changes in RT alignment</a:t>
                      </a:r>
                    </a:p>
                  </a:txBody>
                  <a:tcPr marL="91440" marR="91440" marT="45720" marB="45720">
                    <a:solidFill>
                      <a:srgbClr val="FFFFFF"/>
                    </a:solidFill>
                  </a:tcPr>
                </a:tc>
                <a:tc>
                  <a:txBody>
                    <a:bodyPr/>
                    <a:lstStyle/>
                    <a:p>
                      <a:r>
                        <a:rPr sz="1725" b="0">
                          <a:solidFill>
                            <a:srgbClr val="302C35"/>
                          </a:solidFill>
                          <a:latin typeface="Arial"/>
                          <a:ea typeface="Arial"/>
                          <a:cs typeface="Arial"/>
                        </a:rPr>
                        <a:t>Planned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381648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2B1729-F23B-493D-93C0-5DD1A8836D4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A fair comparison beyond surprisal</a:t>
            </a:r>
          </a:p>
        </p:txBody>
      </p:sp>
      <p:sp>
        <p:nvSpPr>
          <p:cNvPr id="2" name="">
            <a:extLst xmlns:a="http://schemas.openxmlformats.org/drawingml/2006/main">
              <a:ext uri="{FF2B5EF4-FFF2-40B4-BE49-F238E27FC236}">
                <a16:creationId xmlns:a16="http://schemas.microsoft.com/office/drawing/2014/main" id="{E2DCA4BD-E5B9-4DFB-B188-D7CD7FFD48B8}"/>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Outer folds: 55 Provo / 10 Natural Stories. Inner validation: 3 grouped folds.</a:t>
            </a:r>
          </a:p>
        </p:txBody>
      </p:sp>
      <p:sp>
        <p:nvSpPr>
          <p:cNvPr id="3" name="">
            <a:extLst xmlns:a="http://schemas.openxmlformats.org/drawingml/2006/main">
              <a:ext uri="{FF2B5EF4-FFF2-40B4-BE49-F238E27FC236}">
                <a16:creationId xmlns:a16="http://schemas.microsoft.com/office/drawing/2014/main" id="{37FF1154-0E63-4AA6-BC9D-328878EE92B8}"/>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5</a:t>
            </a:r>
          </a:p>
        </p:txBody>
      </p:sp>
      <p:graphicFrame>
        <p:nvGraphicFramePr>
          <p:cNvPr id="9" name=""/>
          <p:cNvGraphicFramePr/>
          <p:nvPr/>
        </p:nvGraphicFramePr>
        <p:xfrm>
          <a:off xmlns:a="http://schemas.openxmlformats.org/drawingml/2006/main" x="609600" y="1504950"/>
          <a:ext xmlns:a="http://schemas.openxmlformats.org/drawingml/2006/main" cx="10972800" cy="3381375"/>
        </p:xfrm>
        <a:graphic xmlns:a="http://schemas.openxmlformats.org/drawingml/2006/main">
          <a:graphicData uri="http://schemas.openxmlformats.org/drawingml/2006/table">
            <a:tbl>
              <a:tblPr firstRow="0" bandRow="0"/>
              <a:tblGrid>
                <a:gridCol w="1143000"/>
                <a:gridCol w="5524500"/>
                <a:gridCol w="4305300"/>
              </a:tblGrid>
              <a:tr h="676275">
                <a:tc>
                  <a:txBody>
                    <a:bodyPr/>
                    <a:lstStyle/>
                    <a:p>
                      <a:r>
                        <a:rPr sz="1875" b="1">
                          <a:solidFill>
                            <a:srgbClr val="FFFFFF"/>
                          </a:solidFill>
                          <a:latin typeface="Arial"/>
                          <a:ea typeface="Arial"/>
                          <a:cs typeface="Arial"/>
                        </a:rPr>
                        <a:t>Model</a:t>
                      </a:r>
                    </a:p>
                  </a:txBody>
                  <a:tcPr marL="91440" marR="91440" marT="45720" marB="45720">
                    <a:solidFill>
                      <a:srgbClr val="713C6B"/>
                    </a:solidFill>
                  </a:tcPr>
                </a:tc>
                <a:tc>
                  <a:txBody>
                    <a:bodyPr/>
                    <a:lstStyle/>
                    <a:p>
                      <a:r>
                        <a:rPr sz="1875" b="1">
                          <a:solidFill>
                            <a:srgbClr val="FFFFFF"/>
                          </a:solidFill>
                          <a:latin typeface="Arial"/>
                          <a:ea typeface="Arial"/>
                          <a:cs typeface="Arial"/>
                        </a:rPr>
                        <a:t>Predictors</a:t>
                      </a:r>
                    </a:p>
                  </a:txBody>
                  <a:tcPr marL="91440" marR="91440" marT="45720" marB="45720">
                    <a:solidFill>
                      <a:srgbClr val="713C6B"/>
                    </a:solidFill>
                  </a:tcPr>
                </a:tc>
                <a:tc>
                  <a:txBody>
                    <a:bodyPr/>
                    <a:lstStyle/>
                    <a:p>
                      <a:r>
                        <a:rPr sz="1875" b="1">
                          <a:solidFill>
                            <a:srgbClr val="FFFFFF"/>
                          </a:solidFill>
                          <a:latin typeface="Arial"/>
                          <a:ea typeface="Arial"/>
                          <a:cs typeface="Arial"/>
                        </a:rPr>
                        <a:t>Question</a:t>
                      </a:r>
                    </a:p>
                  </a:txBody>
                  <a:tcPr marL="91440" marR="91440" marT="45720" marB="45720">
                    <a:solidFill>
                      <a:srgbClr val="713C6B"/>
                    </a:solidFill>
                  </a:tcPr>
                </a:tc>
              </a:tr>
              <a:tr h="676275">
                <a:tc>
                  <a:txBody>
                    <a:bodyPr/>
                    <a:lstStyle/>
                    <a:p>
                      <a:r>
                        <a:rPr sz="1875" b="0">
                          <a:solidFill>
                            <a:srgbClr val="302C35"/>
                          </a:solidFill>
                          <a:latin typeface="Arial"/>
                          <a:ea typeface="Arial"/>
                          <a:cs typeface="Arial"/>
                        </a:rPr>
                        <a:t>M0</a:t>
                      </a:r>
                    </a:p>
                  </a:txBody>
                  <a:tcPr marL="91440" marR="91440" marT="45720" marB="45720">
                    <a:solidFill>
                      <a:srgbClr val="F7F5F6"/>
                    </a:solidFill>
                  </a:tcPr>
                </a:tc>
                <a:tc>
                  <a:txBody>
                    <a:bodyPr/>
                    <a:lstStyle/>
                    <a:p>
                      <a:r>
                        <a:rPr sz="1875" b="0">
                          <a:solidFill>
                            <a:srgbClr val="302C35"/>
                          </a:solidFill>
                          <a:latin typeface="Arial"/>
                          <a:ea typeface="Arial"/>
                          <a:cs typeface="Arial"/>
                        </a:rPr>
                        <a:t>Lexical and position controls</a:t>
                      </a:r>
                    </a:p>
                  </a:txBody>
                  <a:tcPr marL="91440" marR="91440" marT="45720" marB="45720">
                    <a:solidFill>
                      <a:srgbClr val="F7F5F6"/>
                    </a:solidFill>
                  </a:tcPr>
                </a:tc>
                <a:tc>
                  <a:txBody>
                    <a:bodyPr/>
                    <a:lstStyle/>
                    <a:p>
                      <a:r>
                        <a:rPr sz="1875" b="0">
                          <a:solidFill>
                            <a:srgbClr val="302C35"/>
                          </a:solidFill>
                          <a:latin typeface="Arial"/>
                          <a:ea typeface="Arial"/>
                          <a:cs typeface="Arial"/>
                        </a:rPr>
                        <a:t>Reference</a:t>
                      </a:r>
                    </a:p>
                  </a:txBody>
                  <a:tcPr marL="91440" marR="91440" marT="45720" marB="45720">
                    <a:solidFill>
                      <a:srgbClr val="F7F5F6"/>
                    </a:solidFill>
                  </a:tcPr>
                </a:tc>
              </a:tr>
              <a:tr h="676275">
                <a:tc>
                  <a:txBody>
                    <a:bodyPr/>
                    <a:lstStyle/>
                    <a:p>
                      <a:r>
                        <a:rPr sz="1875" b="0">
                          <a:solidFill>
                            <a:srgbClr val="302C35"/>
                          </a:solidFill>
                          <a:latin typeface="Arial"/>
                          <a:ea typeface="Arial"/>
                          <a:cs typeface="Arial"/>
                        </a:rPr>
                        <a:t>M1</a:t>
                      </a:r>
                    </a:p>
                  </a:txBody>
                  <a:tcPr marL="91440" marR="91440" marT="45720" marB="45720">
                    <a:solidFill>
                      <a:srgbClr val="FFFFFF"/>
                    </a:solidFill>
                  </a:tcPr>
                </a:tc>
                <a:tc>
                  <a:txBody>
                    <a:bodyPr/>
                    <a:lstStyle/>
                    <a:p>
                      <a:r>
                        <a:rPr sz="1875" b="0">
                          <a:solidFill>
                            <a:srgbClr val="302C35"/>
                          </a:solidFill>
                          <a:latin typeface="Arial"/>
                          <a:ea typeface="Arial"/>
                          <a:cs typeface="Arial"/>
                        </a:rPr>
                        <a:t>M0 + surprisal and two lags</a:t>
                      </a:r>
                    </a:p>
                  </a:txBody>
                  <a:tcPr marL="91440" marR="91440" marT="45720" marB="45720">
                    <a:solidFill>
                      <a:srgbClr val="FFFFFF"/>
                    </a:solidFill>
                  </a:tcPr>
                </a:tc>
                <a:tc>
                  <a:txBody>
                    <a:bodyPr/>
                    <a:lstStyle/>
                    <a:p>
                      <a:r>
                        <a:rPr sz="1875" b="0">
                          <a:solidFill>
                            <a:srgbClr val="302C35"/>
                          </a:solidFill>
                          <a:latin typeface="Arial"/>
                          <a:ea typeface="Arial"/>
                          <a:cs typeface="Arial"/>
                        </a:rPr>
                        <a:t>Does surprisal help?</a:t>
                      </a:r>
                    </a:p>
                  </a:txBody>
                  <a:tcPr marL="91440" marR="91440" marT="45720" marB="45720">
                    <a:solidFill>
                      <a:srgbClr val="FFFFFF"/>
                    </a:solidFill>
                  </a:tcPr>
                </a:tc>
              </a:tr>
              <a:tr h="676275">
                <a:tc>
                  <a:txBody>
                    <a:bodyPr/>
                    <a:lstStyle/>
                    <a:p>
                      <a:r>
                        <a:rPr sz="1875" b="0">
                          <a:solidFill>
                            <a:srgbClr val="302C35"/>
                          </a:solidFill>
                          <a:latin typeface="Arial"/>
                          <a:ea typeface="Arial"/>
                          <a:cs typeface="Arial"/>
                        </a:rPr>
                        <a:t>M2</a:t>
                      </a:r>
                    </a:p>
                  </a:txBody>
                  <a:tcPr marL="91440" marR="91440" marT="45720" marB="45720">
                    <a:solidFill>
                      <a:srgbClr val="F7F5F6"/>
                    </a:solidFill>
                  </a:tcPr>
                </a:tc>
                <a:tc>
                  <a:txBody>
                    <a:bodyPr/>
                    <a:lstStyle/>
                    <a:p>
                      <a:r>
                        <a:rPr sz="1875" b="0">
                          <a:solidFill>
                            <a:srgbClr val="302C35"/>
                          </a:solidFill>
                          <a:latin typeface="Arial"/>
                          <a:ea typeface="Arial"/>
                          <a:cs typeface="Arial"/>
                        </a:rPr>
                        <a:t>M1 + dense hidden state</a:t>
                      </a:r>
                    </a:p>
                  </a:txBody>
                  <a:tcPr marL="91440" marR="91440" marT="45720" marB="45720">
                    <a:solidFill>
                      <a:srgbClr val="F7F5F6"/>
                    </a:solidFill>
                  </a:tcPr>
                </a:tc>
                <a:tc>
                  <a:txBody>
                    <a:bodyPr/>
                    <a:lstStyle/>
                    <a:p>
                      <a:r>
                        <a:rPr sz="1875" b="0">
                          <a:solidFill>
                            <a:srgbClr val="302C35"/>
                          </a:solidFill>
                          <a:latin typeface="Arial"/>
                          <a:ea typeface="Arial"/>
                          <a:cs typeface="Arial"/>
                        </a:rPr>
                        <a:t>Do representations help?</a:t>
                      </a:r>
                    </a:p>
                  </a:txBody>
                  <a:tcPr marL="91440" marR="91440" marT="45720" marB="45720">
                    <a:solidFill>
                      <a:srgbClr val="F7F5F6"/>
                    </a:solidFill>
                  </a:tcPr>
                </a:tc>
              </a:tr>
              <a:tr h="676275">
                <a:tc>
                  <a:txBody>
                    <a:bodyPr/>
                    <a:lstStyle/>
                    <a:p>
                      <a:r>
                        <a:rPr sz="1875" b="0">
                          <a:solidFill>
                            <a:srgbClr val="302C35"/>
                          </a:solidFill>
                          <a:latin typeface="Arial"/>
                          <a:ea typeface="Arial"/>
                          <a:cs typeface="Arial"/>
                        </a:rPr>
                        <a:t>M3</a:t>
                      </a:r>
                    </a:p>
                  </a:txBody>
                  <a:tcPr marL="91440" marR="91440" marT="45720" marB="45720">
                    <a:solidFill>
                      <a:srgbClr val="FFFFFF"/>
                    </a:solidFill>
                  </a:tcPr>
                </a:tc>
                <a:tc>
                  <a:txBody>
                    <a:bodyPr/>
                    <a:lstStyle/>
                    <a:p>
                      <a:r>
                        <a:rPr sz="1875" b="0">
                          <a:solidFill>
                            <a:srgbClr val="302C35"/>
                          </a:solidFill>
                          <a:latin typeface="Arial"/>
                          <a:ea typeface="Arial"/>
                          <a:cs typeface="Arial"/>
                        </a:rPr>
                        <a:t>M1 + SAE features</a:t>
                      </a:r>
                    </a:p>
                  </a:txBody>
                  <a:tcPr marL="91440" marR="91440" marT="45720" marB="45720">
                    <a:solidFill>
                      <a:srgbClr val="FFFFFF"/>
                    </a:solidFill>
                  </a:tcPr>
                </a:tc>
                <a:tc>
                  <a:txBody>
                    <a:bodyPr/>
                    <a:lstStyle/>
                    <a:p>
                      <a:r>
                        <a:rPr sz="1875" b="0">
                          <a:solidFill>
                            <a:srgbClr val="302C35"/>
                          </a:solidFill>
                          <a:latin typeface="Arial"/>
                          <a:ea typeface="Arial"/>
                          <a:cs typeface="Arial"/>
                        </a:rPr>
                        <a:t>Do sparse features help?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534C8C1-6C3C-4A52-B863-87D94106D8B8}"/>
              </a:ext>
            </a:extLst>
          </p:cNvPr>
          <p:cNvSpPr>
            <a:spLocks xmlns:a="http://schemas.openxmlformats.org/drawingml/2006/main" noGrp="1"/>
          </p:cNvSpPr>
          <p:nvPr/>
        </p:nvSpPr>
        <p:spPr>
          <a:xfrm xmlns:a="http://schemas.openxmlformats.org/drawingml/2006/main">
            <a:off x="609600" y="52482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Before-word and after-word states form separate analyses.</a:t>
            </a:r>
          </a:p>
        </p:txBody>
      </p:sp>
    </p:spTree>
    <p:extLst>
      <p:ext uri="{BB962C8B-B14F-4D97-AF65-F5344CB8AC3E}">
        <p14:creationId xmlns:p14="http://schemas.microsoft.com/office/powerpoint/2010/main" val="5264121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8DE25D-D2F9-4D2B-8442-4681D10719FC}"/>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Surprisal adds useful predictive information</a:t>
            </a:r>
          </a:p>
        </p:txBody>
      </p:sp>
      <p:sp>
        <p:nvSpPr>
          <p:cNvPr id="2" name="">
            <a:extLst xmlns:a="http://schemas.openxmlformats.org/drawingml/2006/main">
              <a:ext uri="{FF2B5EF4-FFF2-40B4-BE49-F238E27FC236}">
                <a16:creationId xmlns:a16="http://schemas.microsoft.com/office/drawing/2014/main" id="{301381C6-51A0-4D7D-8053-3CB8734695D5}"/>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95% intervals resample texts with predictions fixed. They exclude refitting and participant uncertainty.</a:t>
            </a:r>
          </a:p>
        </p:txBody>
      </p:sp>
      <p:sp>
        <p:nvSpPr>
          <p:cNvPr id="3" name="">
            <a:extLst xmlns:a="http://schemas.openxmlformats.org/drawingml/2006/main">
              <a:ext uri="{FF2B5EF4-FFF2-40B4-BE49-F238E27FC236}">
                <a16:creationId xmlns:a16="http://schemas.microsoft.com/office/drawing/2014/main" id="{C9646F0E-15F4-4713-9435-7765D1E8A88C}"/>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6</a:t>
            </a:r>
          </a:p>
        </p:txBody>
      </p:sp>
      <p:graphicFrame>
        <p:nvGraphicFramePr>
          <p:cNvPr id="10" name=""/>
          <p:cNvGraphicFramePr/>
          <p:nvPr/>
        </p:nvGraphicFramePr>
        <p:xfrm>
          <a:off xmlns:a="http://schemas.openxmlformats.org/drawingml/2006/main" x="609600" y="1714500"/>
          <a:ext xmlns:a="http://schemas.openxmlformats.org/drawingml/2006/main" cx="10972800" cy="2190750"/>
        </p:xfrm>
        <a:graphic xmlns:a="http://schemas.openxmlformats.org/drawingml/2006/main">
          <a:graphicData uri="http://schemas.openxmlformats.org/drawingml/2006/table">
            <a:tbl>
              <a:tblPr firstRow="0" bandRow="0"/>
              <a:tblGrid>
                <a:gridCol w="3429000"/>
                <a:gridCol w="3667125"/>
                <a:gridCol w="3876675"/>
              </a:tblGrid>
              <a:tr h="730250">
                <a:tc>
                  <a:txBody>
                    <a:bodyPr/>
                    <a:lstStyle/>
                    <a:p>
                      <a:r>
                        <a:rPr sz="2175" b="1">
                          <a:solidFill>
                            <a:srgbClr val="FFFFFF"/>
                          </a:solidFill>
                          <a:latin typeface="Arial"/>
                          <a:ea typeface="Arial"/>
                          <a:cs typeface="Arial"/>
                        </a:rPr>
                        <a:t>Corpus</a:t>
                      </a:r>
                    </a:p>
                  </a:txBody>
                  <a:tcPr marL="91440" marR="91440" marT="45720" marB="45720">
                    <a:solidFill>
                      <a:srgbClr val="713C6B"/>
                    </a:solidFill>
                  </a:tcPr>
                </a:tc>
                <a:tc>
                  <a:txBody>
                    <a:bodyPr/>
                    <a:lstStyle/>
                    <a:p>
                      <a:r>
                        <a:rPr sz="2175" b="1">
                          <a:solidFill>
                            <a:srgbClr val="FFFFFF"/>
                          </a:solidFill>
                          <a:latin typeface="Arial"/>
                          <a:ea typeface="Arial"/>
                          <a:cs typeface="Arial"/>
                        </a:rPr>
                        <a:t>Surprisal gain (R² pp)</a:t>
                      </a:r>
                    </a:p>
                  </a:txBody>
                  <a:tcPr marL="91440" marR="91440" marT="45720" marB="45720">
                    <a:solidFill>
                      <a:srgbClr val="713C6B"/>
                    </a:solidFill>
                  </a:tcPr>
                </a:tc>
                <a:tc>
                  <a:txBody>
                    <a:bodyPr/>
                    <a:lstStyle/>
                    <a:p>
                      <a:r>
                        <a:rPr sz="2175" b="1">
                          <a:solidFill>
                            <a:srgbClr val="FFFFFF"/>
                          </a:solidFill>
                          <a:latin typeface="Arial"/>
                          <a:ea typeface="Arial"/>
                          <a:cs typeface="Arial"/>
                        </a:rPr>
                        <a:t>95% interval (pp)</a:t>
                      </a:r>
                    </a:p>
                  </a:txBody>
                  <a:tcPr marL="91440" marR="91440" marT="45720" marB="45720">
                    <a:solidFill>
                      <a:srgbClr val="713C6B"/>
                    </a:solidFill>
                  </a:tcPr>
                </a:tc>
              </a:tr>
              <a:tr h="730250">
                <a:tc>
                  <a:txBody>
                    <a:bodyPr/>
                    <a:lstStyle/>
                    <a:p>
                      <a:r>
                        <a:rPr sz="2175" b="0">
                          <a:solidFill>
                            <a:srgbClr val="302C35"/>
                          </a:solidFill>
                          <a:latin typeface="Arial"/>
                          <a:ea typeface="Arial"/>
                          <a:cs typeface="Arial"/>
                        </a:rPr>
                        <a:t>Provo FFD</a:t>
                      </a:r>
                    </a:p>
                  </a:txBody>
                  <a:tcPr marL="91440" marR="91440" marT="45720" marB="45720">
                    <a:solidFill>
                      <a:srgbClr val="F7F5F6"/>
                    </a:solidFill>
                  </a:tcPr>
                </a:tc>
                <a:tc>
                  <a:txBody>
                    <a:bodyPr/>
                    <a:lstStyle/>
                    <a:p>
                      <a:r>
                        <a:rPr sz="2175" b="1">
                          <a:solidFill>
                            <a:srgbClr val="302C35"/>
                          </a:solidFill>
                          <a:latin typeface="Arial"/>
                          <a:ea typeface="Arial"/>
                          <a:cs typeface="Arial"/>
                        </a:rPr>
                        <a:t>+1.48</a:t>
                      </a:r>
                    </a:p>
                  </a:txBody>
                  <a:tcPr marL="91440" marR="91440" marT="45720" marB="45720">
                    <a:solidFill>
                      <a:srgbClr val="F1E8EF"/>
                    </a:solidFill>
                  </a:tcPr>
                </a:tc>
                <a:tc>
                  <a:txBody>
                    <a:bodyPr/>
                    <a:lstStyle/>
                    <a:p>
                      <a:r>
                        <a:rPr sz="2175" b="0">
                          <a:solidFill>
                            <a:srgbClr val="302C35"/>
                          </a:solidFill>
                          <a:latin typeface="Arial"/>
                          <a:ea typeface="Arial"/>
                          <a:cs typeface="Arial"/>
                        </a:rPr>
                        <a:t>[0.54, 2.35]</a:t>
                      </a:r>
                    </a:p>
                  </a:txBody>
                  <a:tcPr marL="91440" marR="91440" marT="45720" marB="45720">
                    <a:solidFill>
                      <a:srgbClr val="F7F5F6"/>
                    </a:solidFill>
                  </a:tcPr>
                </a:tc>
              </a:tr>
              <a:tr h="730250">
                <a:tc>
                  <a:txBody>
                    <a:bodyPr/>
                    <a:lstStyle/>
                    <a:p>
                      <a:r>
                        <a:rPr sz="2175" b="0">
                          <a:solidFill>
                            <a:srgbClr val="302C35"/>
                          </a:solidFill>
                          <a:latin typeface="Arial"/>
                          <a:ea typeface="Arial"/>
                          <a:cs typeface="Arial"/>
                        </a:rPr>
                        <a:t>Natural Stories SPR</a:t>
                      </a:r>
                    </a:p>
                  </a:txBody>
                  <a:tcPr marL="91440" marR="91440" marT="45720" marB="45720">
                    <a:solidFill>
                      <a:srgbClr val="FFFFFF"/>
                    </a:solidFill>
                  </a:tcPr>
                </a:tc>
                <a:tc>
                  <a:txBody>
                    <a:bodyPr/>
                    <a:lstStyle/>
                    <a:p>
                      <a:r>
                        <a:rPr sz="2175" b="1">
                          <a:solidFill>
                            <a:srgbClr val="302C35"/>
                          </a:solidFill>
                          <a:latin typeface="Arial"/>
                          <a:ea typeface="Arial"/>
                          <a:cs typeface="Arial"/>
                        </a:rPr>
                        <a:t>+4.16</a:t>
                      </a:r>
                    </a:p>
                  </a:txBody>
                  <a:tcPr marL="91440" marR="91440" marT="45720" marB="45720">
                    <a:solidFill>
                      <a:srgbClr val="F1E8EF"/>
                    </a:solidFill>
                  </a:tcPr>
                </a:tc>
                <a:tc>
                  <a:txBody>
                    <a:bodyPr/>
                    <a:lstStyle/>
                    <a:p>
                      <a:r>
                        <a:rPr sz="2175" b="0">
                          <a:solidFill>
                            <a:srgbClr val="302C35"/>
                          </a:solidFill>
                          <a:latin typeface="Arial"/>
                          <a:ea typeface="Arial"/>
                          <a:cs typeface="Arial"/>
                        </a:rPr>
                        <a:t>[1.80, 6.00]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2AA0479-DD05-4B3E-80E2-3F4E3FDAA8E1}"/>
              </a:ext>
            </a:extLst>
          </p:cNvPr>
          <p:cNvSpPr>
            <a:spLocks xmlns:a="http://schemas.openxmlformats.org/drawingml/2006/main" noGrp="1"/>
          </p:cNvSpPr>
          <p:nvPr/>
        </p:nvSpPr>
        <p:spPr>
          <a:xfrm xmlns:a="http://schemas.openxmlformats.org/drawingml/2006/main">
            <a:off x="609600" y="4524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Matched-context baseline: 128-token windows with 64-token stride</a:t>
            </a:r>
          </a:p>
        </p:txBody>
      </p:sp>
      <p:sp>
        <p:nvSpPr>
          <p:cNvPr id="6" name="">
            <a:extLst xmlns:a="http://schemas.openxmlformats.org/drawingml/2006/main">
              <a:ext uri="{FF2B5EF4-FFF2-40B4-BE49-F238E27FC236}">
                <a16:creationId xmlns:a16="http://schemas.microsoft.com/office/drawing/2014/main" id="{34F34ED7-5CCC-4FEA-B58A-ECC157B34C62}"/>
              </a:ext>
            </a:extLst>
          </p:cNvPr>
          <p:cNvSpPr>
            <a:spLocks xmlns:a="http://schemas.openxmlformats.org/drawingml/2006/main" noGrp="1"/>
          </p:cNvSpPr>
          <p:nvPr/>
        </p:nvSpPr>
        <p:spPr>
          <a:xfrm xmlns:a="http://schemas.openxmlformats.org/drawingml/2006/main">
            <a:off x="609600" y="53244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02C35"/>
                </a:solidFill>
                <a:latin typeface="Arial"/>
                <a:ea typeface="Arial"/>
                <a:cs typeface="Arial"/>
              </a:defRPr>
            </a:pPr>
            <a:r>
              <a:rPr sz="1950" b="0">
                <a:solidFill>
                  <a:srgbClr val="302C35"/>
                </a:solidFill>
                <a:latin typeface="Arial"/>
                <a:ea typeface="Arial"/>
                <a:cs typeface="Arial"/>
              </a:rPr>
              <a:t>The separate 1,024-token context analysis does not establish an advantage.</a:t>
            </a:r>
          </a:p>
        </p:txBody>
      </p:sp>
    </p:spTree>
    <p:extLst>
      <p:ext uri="{BB962C8B-B14F-4D97-AF65-F5344CB8AC3E}">
        <p14:creationId xmlns:p14="http://schemas.microsoft.com/office/powerpoint/2010/main" val="39043092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4CAB6-7883-4447-B85D-07D2F69D3022}"/>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SAE gains differ across corpora</a:t>
            </a:r>
          </a:p>
        </p:txBody>
      </p:sp>
      <p:sp>
        <p:nvSpPr>
          <p:cNvPr id="2" name="">
            <a:extLst xmlns:a="http://schemas.openxmlformats.org/drawingml/2006/main">
              <a:ext uri="{FF2B5EF4-FFF2-40B4-BE49-F238E27FC236}">
                <a16:creationId xmlns:a16="http://schemas.microsoft.com/office/drawing/2014/main" id="{7CB4F36B-FE41-4C16-87EB-95EC57687DCB}"/>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R² percentage points above M1. Hook and penalty selected within training stories.</a:t>
            </a:r>
          </a:p>
        </p:txBody>
      </p:sp>
      <p:sp>
        <p:nvSpPr>
          <p:cNvPr id="3" name="">
            <a:extLst xmlns:a="http://schemas.openxmlformats.org/drawingml/2006/main">
              <a:ext uri="{FF2B5EF4-FFF2-40B4-BE49-F238E27FC236}">
                <a16:creationId xmlns:a16="http://schemas.microsoft.com/office/drawing/2014/main" id="{3664AF5F-6560-4A2C-AD7E-6E610FA789EE}"/>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7</a:t>
            </a:r>
          </a:p>
        </p:txBody>
      </p:sp>
      <p:graphicFrame>
        <p:nvGraphicFramePr>
          <p:cNvPr id="8" name="Chart"/>
          <p:cNvGraphicFramePr/>
          <p:nvPr/>
        </p:nvGraphicFramePr>
        <p:xfrm>
          <a:off xmlns:a="http://schemas.openxmlformats.org/drawingml/2006/main" x="609600" y="1466850"/>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6d8a564d836e4b99"/>
          </a:graphicData>
        </a:graphic>
      </p:graphicFrame>
    </p:spTree>
    <p:extLst>
      <p:ext uri="{BB962C8B-B14F-4D97-AF65-F5344CB8AC3E}">
        <p14:creationId xmlns:p14="http://schemas.microsoft.com/office/powerpoint/2010/main" val="95347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552AF8-6E7A-4DDC-8935-1055B22CFB8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The paired comparison favors different readouts</a:t>
            </a:r>
          </a:p>
        </p:txBody>
      </p:sp>
      <p:sp>
        <p:nvSpPr>
          <p:cNvPr id="2" name="">
            <a:extLst xmlns:a="http://schemas.openxmlformats.org/drawingml/2006/main">
              <a:ext uri="{FF2B5EF4-FFF2-40B4-BE49-F238E27FC236}">
                <a16:creationId xmlns:a16="http://schemas.microsoft.com/office/drawing/2014/main" id="{DA3058FB-4809-4D7D-B47D-C31C6AD636FE}"/>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Paired 95% text-bootstrap intervals conditional on saved predictions. Natural Stories has only 10 stories.</a:t>
            </a:r>
          </a:p>
        </p:txBody>
      </p:sp>
      <p:sp>
        <p:nvSpPr>
          <p:cNvPr id="3" name="">
            <a:extLst xmlns:a="http://schemas.openxmlformats.org/drawingml/2006/main">
              <a:ext uri="{FF2B5EF4-FFF2-40B4-BE49-F238E27FC236}">
                <a16:creationId xmlns:a16="http://schemas.microsoft.com/office/drawing/2014/main" id="{E6FD6D34-BD75-4721-B082-22F68D8A0368}"/>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8</a:t>
            </a:r>
          </a:p>
        </p:txBody>
      </p:sp>
      <p:graphicFrame>
        <p:nvGraphicFramePr>
          <p:cNvPr id="9" name=""/>
          <p:cNvGraphicFramePr/>
          <p:nvPr/>
        </p:nvGraphicFramePr>
        <p:xfrm>
          <a:off xmlns:a="http://schemas.openxmlformats.org/drawingml/2006/main" x="609600" y="1676400"/>
          <a:ext xmlns:a="http://schemas.openxmlformats.org/drawingml/2006/main" cx="10972800" cy="3276600"/>
        </p:xfrm>
        <a:graphic xmlns:a="http://schemas.openxmlformats.org/drawingml/2006/main">
          <a:graphicData uri="http://schemas.openxmlformats.org/drawingml/2006/table">
            <a:tbl>
              <a:tblPr firstRow="0" bandRow="0"/>
              <a:tblGrid>
                <a:gridCol w="4476750"/>
                <a:gridCol w="3238500"/>
                <a:gridCol w="3257550"/>
              </a:tblGrid>
              <a:tr h="655320">
                <a:tc>
                  <a:txBody>
                    <a:bodyPr/>
                    <a:lstStyle/>
                    <a:p>
                      <a:r>
                        <a:rPr sz="1875" b="1">
                          <a:solidFill>
                            <a:srgbClr val="FFFFFF"/>
                          </a:solidFill>
                          <a:latin typeface="Arial"/>
                          <a:ea typeface="Arial"/>
                          <a:cs typeface="Arial"/>
                        </a:rPr>
                        <a:t>Corpus / state</a:t>
                      </a:r>
                    </a:p>
                  </a:txBody>
                  <a:tcPr marL="91440" marR="91440" marT="45720" marB="45720">
                    <a:solidFill>
                      <a:srgbClr val="713C6B"/>
                    </a:solidFill>
                  </a:tcPr>
                </a:tc>
                <a:tc>
                  <a:txBody>
                    <a:bodyPr/>
                    <a:lstStyle/>
                    <a:p>
                      <a:r>
                        <a:rPr sz="1875" b="1">
                          <a:solidFill>
                            <a:srgbClr val="FFFFFF"/>
                          </a:solidFill>
                          <a:latin typeface="Arial"/>
                          <a:ea typeface="Arial"/>
                          <a:cs typeface="Arial"/>
                        </a:rPr>
                        <a:t>SAE minus dense (pp)</a:t>
                      </a:r>
                    </a:p>
                  </a:txBody>
                  <a:tcPr marL="91440" marR="91440" marT="45720" marB="45720">
                    <a:solidFill>
                      <a:srgbClr val="713C6B"/>
                    </a:solidFill>
                  </a:tcPr>
                </a:tc>
                <a:tc>
                  <a:txBody>
                    <a:bodyPr/>
                    <a:lstStyle/>
                    <a:p>
                      <a:r>
                        <a:rPr sz="1875" b="1">
                          <a:solidFill>
                            <a:srgbClr val="FFFFFF"/>
                          </a:solidFill>
                          <a:latin typeface="Arial"/>
                          <a:ea typeface="Arial"/>
                          <a:cs typeface="Arial"/>
                        </a:rPr>
                        <a:t>95% interval</a:t>
                      </a:r>
                    </a:p>
                  </a:txBody>
                  <a:tcPr marL="91440" marR="91440" marT="45720" marB="45720">
                    <a:solidFill>
                      <a:srgbClr val="713C6B"/>
                    </a:solidFill>
                  </a:tcPr>
                </a:tc>
              </a:tr>
              <a:tr h="655320">
                <a:tc>
                  <a:txBody>
                    <a:bodyPr/>
                    <a:lstStyle/>
                    <a:p>
                      <a:r>
                        <a:rPr sz="1875" b="0">
                          <a:solidFill>
                            <a:srgbClr val="302C35"/>
                          </a:solidFill>
                          <a:latin typeface="Arial"/>
                          <a:ea typeface="Arial"/>
                          <a:cs typeface="Arial"/>
                        </a:rPr>
                        <a:t>Provo / before word</a:t>
                      </a:r>
                    </a:p>
                  </a:txBody>
                  <a:tcPr marL="91440" marR="91440" marT="45720" marB="45720">
                    <a:solidFill>
                      <a:srgbClr val="F7F5F6"/>
                    </a:solidFill>
                  </a:tcPr>
                </a:tc>
                <a:tc>
                  <a:txBody>
                    <a:bodyPr/>
                    <a:lstStyle/>
                    <a:p>
                      <a:r>
                        <a:rPr sz="1875" b="1">
                          <a:solidFill>
                            <a:srgbClr val="302C35"/>
                          </a:solidFill>
                          <a:latin typeface="Arial"/>
                          <a:ea typeface="Arial"/>
                          <a:cs typeface="Arial"/>
                        </a:rPr>
                        <a:t>+1.80</a:t>
                      </a:r>
                    </a:p>
                  </a:txBody>
                  <a:tcPr marL="91440" marR="91440" marT="45720" marB="45720">
                    <a:solidFill>
                      <a:srgbClr val="F1E8EF"/>
                    </a:solidFill>
                  </a:tcPr>
                </a:tc>
                <a:tc>
                  <a:txBody>
                    <a:bodyPr/>
                    <a:lstStyle/>
                    <a:p>
                      <a:r>
                        <a:rPr sz="1875" b="0">
                          <a:solidFill>
                            <a:srgbClr val="302C35"/>
                          </a:solidFill>
                          <a:latin typeface="Arial"/>
                          <a:ea typeface="Arial"/>
                          <a:cs typeface="Arial"/>
                        </a:rPr>
                        <a:t>[+0.67, +2.88]</a:t>
                      </a:r>
                    </a:p>
                  </a:txBody>
                  <a:tcPr marL="91440" marR="91440" marT="45720" marB="45720">
                    <a:solidFill>
                      <a:srgbClr val="F7F5F6"/>
                    </a:solidFill>
                  </a:tcPr>
                </a:tc>
              </a:tr>
              <a:tr h="655320">
                <a:tc>
                  <a:txBody>
                    <a:bodyPr/>
                    <a:lstStyle/>
                    <a:p>
                      <a:r>
                        <a:rPr sz="1875" b="0">
                          <a:solidFill>
                            <a:srgbClr val="302C35"/>
                          </a:solidFill>
                          <a:latin typeface="Arial"/>
                          <a:ea typeface="Arial"/>
                          <a:cs typeface="Arial"/>
                        </a:rPr>
                        <a:t>Provo / after word</a:t>
                      </a:r>
                    </a:p>
                  </a:txBody>
                  <a:tcPr marL="91440" marR="91440" marT="45720" marB="45720">
                    <a:solidFill>
                      <a:srgbClr val="FFFFFF"/>
                    </a:solidFill>
                  </a:tcPr>
                </a:tc>
                <a:tc>
                  <a:txBody>
                    <a:bodyPr/>
                    <a:lstStyle/>
                    <a:p>
                      <a:r>
                        <a:rPr sz="1875" b="1">
                          <a:solidFill>
                            <a:srgbClr val="302C35"/>
                          </a:solidFill>
                          <a:latin typeface="Arial"/>
                          <a:ea typeface="Arial"/>
                          <a:cs typeface="Arial"/>
                        </a:rPr>
                        <a:t>+3.78</a:t>
                      </a:r>
                    </a:p>
                  </a:txBody>
                  <a:tcPr marL="91440" marR="91440" marT="45720" marB="45720">
                    <a:solidFill>
                      <a:srgbClr val="F1E8EF"/>
                    </a:solidFill>
                  </a:tcPr>
                </a:tc>
                <a:tc>
                  <a:txBody>
                    <a:bodyPr/>
                    <a:lstStyle/>
                    <a:p>
                      <a:r>
                        <a:rPr sz="1875" b="0">
                          <a:solidFill>
                            <a:srgbClr val="302C35"/>
                          </a:solidFill>
                          <a:latin typeface="Arial"/>
                          <a:ea typeface="Arial"/>
                          <a:cs typeface="Arial"/>
                        </a:rPr>
                        <a:t>[+2.73, +4.88]</a:t>
                      </a:r>
                    </a:p>
                  </a:txBody>
                  <a:tcPr marL="91440" marR="91440" marT="45720" marB="45720">
                    <a:solidFill>
                      <a:srgbClr val="FFFFFF"/>
                    </a:solidFill>
                  </a:tcPr>
                </a:tc>
              </a:tr>
              <a:tr h="655320">
                <a:tc>
                  <a:txBody>
                    <a:bodyPr/>
                    <a:lstStyle/>
                    <a:p>
                      <a:r>
                        <a:rPr sz="1875" b="0">
                          <a:solidFill>
                            <a:srgbClr val="302C35"/>
                          </a:solidFill>
                          <a:latin typeface="Arial"/>
                          <a:ea typeface="Arial"/>
                          <a:cs typeface="Arial"/>
                        </a:rPr>
                        <a:t>Natural Stories / before word</a:t>
                      </a:r>
                    </a:p>
                  </a:txBody>
                  <a:tcPr marL="91440" marR="91440" marT="45720" marB="45720">
                    <a:solidFill>
                      <a:srgbClr val="F7F5F6"/>
                    </a:solidFill>
                  </a:tcPr>
                </a:tc>
                <a:tc>
                  <a:txBody>
                    <a:bodyPr/>
                    <a:lstStyle/>
                    <a:p>
                      <a:r>
                        <a:rPr sz="1875" b="1">
                          <a:solidFill>
                            <a:srgbClr val="302C35"/>
                          </a:solidFill>
                          <a:latin typeface="Arial"/>
                          <a:ea typeface="Arial"/>
                          <a:cs typeface="Arial"/>
                        </a:rPr>
                        <a:t>-1.79</a:t>
                      </a:r>
                    </a:p>
                  </a:txBody>
                  <a:tcPr marL="91440" marR="91440" marT="45720" marB="45720">
                    <a:solidFill>
                      <a:srgbClr val="F1E8EF"/>
                    </a:solidFill>
                  </a:tcPr>
                </a:tc>
                <a:tc>
                  <a:txBody>
                    <a:bodyPr/>
                    <a:lstStyle/>
                    <a:p>
                      <a:r>
                        <a:rPr sz="1875" b="0">
                          <a:solidFill>
                            <a:srgbClr val="302C35"/>
                          </a:solidFill>
                          <a:latin typeface="Arial"/>
                          <a:ea typeface="Arial"/>
                          <a:cs typeface="Arial"/>
                        </a:rPr>
                        <a:t>[-3.49, +0.25]</a:t>
                      </a:r>
                    </a:p>
                  </a:txBody>
                  <a:tcPr marL="91440" marR="91440" marT="45720" marB="45720">
                    <a:solidFill>
                      <a:srgbClr val="F7F5F6"/>
                    </a:solidFill>
                  </a:tcPr>
                </a:tc>
              </a:tr>
              <a:tr h="655320">
                <a:tc>
                  <a:txBody>
                    <a:bodyPr/>
                    <a:lstStyle/>
                    <a:p>
                      <a:r>
                        <a:rPr sz="1875" b="0">
                          <a:solidFill>
                            <a:srgbClr val="302C35"/>
                          </a:solidFill>
                          <a:latin typeface="Arial"/>
                          <a:ea typeface="Arial"/>
                          <a:cs typeface="Arial"/>
                        </a:rPr>
                        <a:t>Natural Stories / after word</a:t>
                      </a:r>
                    </a:p>
                  </a:txBody>
                  <a:tcPr marL="91440" marR="91440" marT="45720" marB="45720">
                    <a:solidFill>
                      <a:srgbClr val="FFFFFF"/>
                    </a:solidFill>
                  </a:tcPr>
                </a:tc>
                <a:tc>
                  <a:txBody>
                    <a:bodyPr/>
                    <a:lstStyle/>
                    <a:p>
                      <a:r>
                        <a:rPr sz="1875" b="1">
                          <a:solidFill>
                            <a:srgbClr val="302C35"/>
                          </a:solidFill>
                          <a:latin typeface="Arial"/>
                          <a:ea typeface="Arial"/>
                          <a:cs typeface="Arial"/>
                        </a:rPr>
                        <a:t>-2.39</a:t>
                      </a:r>
                    </a:p>
                  </a:txBody>
                  <a:tcPr marL="91440" marR="91440" marT="45720" marB="45720">
                    <a:solidFill>
                      <a:srgbClr val="F1E8EF"/>
                    </a:solidFill>
                  </a:tcPr>
                </a:tc>
                <a:tc>
                  <a:txBody>
                    <a:bodyPr/>
                    <a:lstStyle/>
                    <a:p>
                      <a:r>
                        <a:rPr sz="1875" b="0">
                          <a:solidFill>
                            <a:srgbClr val="302C35"/>
                          </a:solidFill>
                          <a:latin typeface="Arial"/>
                          <a:ea typeface="Arial"/>
                          <a:cs typeface="Arial"/>
                        </a:rPr>
                        <a:t>[-4.02, -0.45]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C4286ED-4072-4D54-A68F-4BC40333F254}"/>
              </a:ext>
            </a:extLst>
          </p:cNvPr>
          <p:cNvSpPr>
            <a:spLocks xmlns:a="http://schemas.openxmlformats.org/drawingml/2006/main" noGrp="1"/>
          </p:cNvSpPr>
          <p:nvPr/>
        </p:nvSpPr>
        <p:spPr>
          <a:xfrm xmlns:a="http://schemas.openxmlformats.org/drawingml/2006/main">
            <a:off x="609600" y="53054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Positive favors SAE. Negative favors the dense state.</a:t>
            </a:r>
          </a:p>
        </p:txBody>
      </p:sp>
    </p:spTree>
    <p:extLst>
      <p:ext uri="{BB962C8B-B14F-4D97-AF65-F5344CB8AC3E}">
        <p14:creationId xmlns:p14="http://schemas.microsoft.com/office/powerpoint/2010/main" val="15843324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708B61-E16D-4C1C-8026-350AA367C89A}"/>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Provo points toward a lexical explanation</a:t>
            </a:r>
          </a:p>
        </p:txBody>
      </p:sp>
      <p:sp>
        <p:nvSpPr>
          <p:cNvPr id="2" name="">
            <a:extLst xmlns:a="http://schemas.openxmlformats.org/drawingml/2006/main">
              <a:ext uri="{FF2B5EF4-FFF2-40B4-BE49-F238E27FC236}">
                <a16:creationId xmlns:a16="http://schemas.microsoft.com/office/drawing/2014/main" id="{4ECBD071-22C7-489B-A3A4-AAF7AFA3EFD3}"/>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L01 denotes blocks.0.hook_resid_pre. There are 13 recorded hooks across 12 transformer blocks.</a:t>
            </a:r>
          </a:p>
        </p:txBody>
      </p:sp>
      <p:sp>
        <p:nvSpPr>
          <p:cNvPr id="3" name="">
            <a:extLst xmlns:a="http://schemas.openxmlformats.org/drawingml/2006/main">
              <a:ext uri="{FF2B5EF4-FFF2-40B4-BE49-F238E27FC236}">
                <a16:creationId xmlns:a16="http://schemas.microsoft.com/office/drawing/2014/main" id="{0D355916-BBA2-49FF-8CBD-F650998C5E80}"/>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C82B420E-046F-466F-B947-472DF679036D}"/>
              </a:ext>
            </a:extLst>
          </p:cNvPr>
          <p:cNvSpPr>
            <a:spLocks xmlns:a="http://schemas.openxmlformats.org/drawingml/2006/main" noGrp="1"/>
          </p:cNvSpPr>
          <p:nvPr/>
        </p:nvSpPr>
        <p:spPr>
          <a:xfrm xmlns:a="http://schemas.openxmlformats.org/drawingml/2006/main">
            <a:off x="609600" y="16954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713C6B"/>
                </a:solidFill>
                <a:latin typeface="Arial"/>
                <a:ea typeface="Arial"/>
                <a:cs typeface="Arial"/>
              </a:defRPr>
            </a:pPr>
            <a:r>
              <a:rPr sz="5700" b="1">
                <a:solidFill>
                  <a:srgbClr val="713C6B"/>
                </a:solidFill>
                <a:latin typeface="Arial"/>
                <a:ea typeface="Arial"/>
                <a:cs typeface="Arial"/>
              </a:rPr>
              <a:t>55 / 55</a:t>
            </a:r>
          </a:p>
        </p:txBody>
      </p:sp>
      <p:sp>
        <p:nvSpPr>
          <p:cNvPr id="5" name="">
            <a:extLst xmlns:a="http://schemas.openxmlformats.org/drawingml/2006/main">
              <a:ext uri="{FF2B5EF4-FFF2-40B4-BE49-F238E27FC236}">
                <a16:creationId xmlns:a16="http://schemas.microsoft.com/office/drawing/2014/main" id="{AD9E4785-5871-4024-904B-627C4DE4DF88}"/>
              </a:ext>
            </a:extLst>
          </p:cNvPr>
          <p:cNvSpPr>
            <a:spLocks xmlns:a="http://schemas.openxmlformats.org/drawingml/2006/main" noGrp="1"/>
          </p:cNvSpPr>
          <p:nvPr/>
        </p:nvSpPr>
        <p:spPr>
          <a:xfrm xmlns:a="http://schemas.openxmlformats.org/drawingml/2006/main">
            <a:off x="609600" y="2857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02C35"/>
                </a:solidFill>
                <a:latin typeface="Arial"/>
                <a:ea typeface="Arial"/>
                <a:cs typeface="Arial"/>
              </a:defRPr>
            </a:pPr>
            <a:r>
              <a:rPr sz="2325" b="0">
                <a:solidFill>
                  <a:srgbClr val="302C35"/>
                </a:solidFill>
                <a:latin typeface="Arial"/>
                <a:ea typeface="Arial"/>
                <a:cs typeface="Arial"/>
              </a:rPr>
              <a:t>Provo folds select the earliest SAE hook</a:t>
            </a:r>
          </a:p>
          <a:p xmlns:a="http://schemas.openxmlformats.org/drawingml/2006/main">
            <a:pPr>
              <a:defRPr sz="2325" b="0">
                <a:solidFill>
                  <a:srgbClr val="302C35"/>
                </a:solidFill>
                <a:latin typeface="Arial"/>
                <a:ea typeface="Arial"/>
                <a:cs typeface="Arial"/>
              </a:defRPr>
            </a:pPr>
            <a:r>
              <a:rPr sz="2325" b="0">
                <a:solidFill>
                  <a:srgbClr val="302C35"/>
                </a:solidFill>
                <a:latin typeface="Arial"/>
                <a:ea typeface="Arial"/>
                <a:cs typeface="Arial"/>
              </a:rPr>
              <a:t>for both before-word and after-word models.</a:t>
            </a:r>
          </a:p>
        </p:txBody>
      </p:sp>
      <p:sp>
        <p:nvSpPr>
          <p:cNvPr id="6" name="">
            <a:extLst xmlns:a="http://schemas.openxmlformats.org/drawingml/2006/main">
              <a:ext uri="{FF2B5EF4-FFF2-40B4-BE49-F238E27FC236}">
                <a16:creationId xmlns:a16="http://schemas.microsoft.com/office/drawing/2014/main" id="{943AABE0-8510-4FB8-9D38-277FC2A9BB14}"/>
              </a:ext>
            </a:extLst>
          </p:cNvPr>
          <p:cNvSpPr>
            <a:spLocks xmlns:a="http://schemas.openxmlformats.org/drawingml/2006/main" noGrp="1"/>
          </p:cNvSpPr>
          <p:nvPr/>
        </p:nvSpPr>
        <p:spPr>
          <a:xfrm xmlns:a="http://schemas.openxmlformats.org/drawingml/2006/main">
            <a:off x="609600" y="43053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6745C"/>
                </a:solidFill>
                <a:latin typeface="Arial"/>
                <a:ea typeface="Arial"/>
                <a:cs typeface="Arial"/>
              </a:defRPr>
            </a:pPr>
            <a:r>
              <a:rPr sz="2400" b="1">
                <a:solidFill>
                  <a:srgbClr val="26745C"/>
                </a:solidFill>
                <a:latin typeface="Arial"/>
                <a:ea typeface="Arial"/>
                <a:cs typeface="Arial"/>
              </a:rPr>
              <a:t>Next control: token identity and position</a:t>
            </a:r>
          </a:p>
        </p:txBody>
      </p:sp>
      <p:sp>
        <p:nvSpPr>
          <p:cNvPr id="7" name="">
            <a:extLst xmlns:a="http://schemas.openxmlformats.org/drawingml/2006/main">
              <a:ext uri="{FF2B5EF4-FFF2-40B4-BE49-F238E27FC236}">
                <a16:creationId xmlns:a16="http://schemas.microsoft.com/office/drawing/2014/main" id="{D9B1B1A1-D721-4A5A-BB9D-97BC89090C93}"/>
              </a:ext>
            </a:extLst>
          </p:cNvPr>
          <p:cNvSpPr>
            <a:spLocks xmlns:a="http://schemas.openxmlformats.org/drawingml/2006/main" noGrp="1"/>
          </p:cNvSpPr>
          <p:nvPr/>
        </p:nvSpPr>
        <p:spPr>
          <a:xfrm xmlns:a="http://schemas.openxmlformats.org/drawingml/2006/main">
            <a:off x="609600" y="50768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02C35"/>
                </a:solidFill>
                <a:latin typeface="Arial"/>
                <a:ea typeface="Arial"/>
                <a:cs typeface="Arial"/>
              </a:defRPr>
            </a:pPr>
            <a:r>
              <a:rPr sz="2100" b="0">
                <a:solidFill>
                  <a:srgbClr val="302C35"/>
                </a:solidFill>
                <a:latin typeface="Arial"/>
                <a:ea typeface="Arial"/>
                <a:cs typeface="Arial"/>
              </a:rPr>
              <a:t>A predictive gain at this hook does not identify syntactic integration.</a:t>
            </a:r>
          </a:p>
        </p:txBody>
      </p:sp>
    </p:spTree>
    <p:extLst>
      <p:ext uri="{BB962C8B-B14F-4D97-AF65-F5344CB8AC3E}">
        <p14:creationId xmlns:p14="http://schemas.microsoft.com/office/powerpoint/2010/main" val="345846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2A30E6-D3D7-4FF5-8757-441CB108F79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Fidelity checks constrain future interventions</a:t>
            </a:r>
          </a:p>
        </p:txBody>
      </p:sp>
      <p:sp>
        <p:nvSpPr>
          <p:cNvPr id="2" name="">
            <a:extLst xmlns:a="http://schemas.openxmlformats.org/drawingml/2006/main">
              <a:ext uri="{FF2B5EF4-FFF2-40B4-BE49-F238E27FC236}">
                <a16:creationId xmlns:a16="http://schemas.microsoft.com/office/drawing/2014/main" id="{C8B67865-3E0D-4173-B567-A3CBC02D9B51}"/>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Added NLL in bits/token, lower is better. Four sampled windows per corpus. Provo policies coincide.</a:t>
            </a:r>
          </a:p>
        </p:txBody>
      </p:sp>
      <p:sp>
        <p:nvSpPr>
          <p:cNvPr id="3" name="">
            <a:extLst xmlns:a="http://schemas.openxmlformats.org/drawingml/2006/main">
              <a:ext uri="{FF2B5EF4-FFF2-40B4-BE49-F238E27FC236}">
                <a16:creationId xmlns:a16="http://schemas.microsoft.com/office/drawing/2014/main" id="{60443E9A-4007-42AC-A518-F2BB6734CE74}"/>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10</a:t>
            </a:r>
          </a:p>
        </p:txBody>
      </p:sp>
      <p:graphicFrame>
        <p:nvGraphicFramePr>
          <p:cNvPr id="10" name=""/>
          <p:cNvGraphicFramePr/>
          <p:nvPr/>
        </p:nvGraphicFramePr>
        <p:xfrm>
          <a:off xmlns:a="http://schemas.openxmlformats.org/drawingml/2006/main" x="609600" y="1762125"/>
          <a:ext xmlns:a="http://schemas.openxmlformats.org/drawingml/2006/main" cx="10972800" cy="2305050"/>
        </p:xfrm>
        <a:graphic xmlns:a="http://schemas.openxmlformats.org/drawingml/2006/main">
          <a:graphicData uri="http://schemas.openxmlformats.org/drawingml/2006/table">
            <a:tbl>
              <a:tblPr firstRow="0" bandRow="0"/>
              <a:tblGrid>
                <a:gridCol w="3333750"/>
                <a:gridCol w="3333750"/>
                <a:gridCol w="4305300"/>
              </a:tblGrid>
              <a:tr h="768350">
                <a:tc>
                  <a:txBody>
                    <a:bodyPr/>
                    <a:lstStyle/>
                    <a:p>
                      <a:r>
                        <a:rPr sz="2100" b="1">
                          <a:solidFill>
                            <a:srgbClr val="FFFFFF"/>
                          </a:solidFill>
                          <a:latin typeface="Arial"/>
                          <a:ea typeface="Arial"/>
                          <a:cs typeface="Arial"/>
                        </a:rPr>
                        <a:t>Natural Stories hook</a:t>
                      </a:r>
                    </a:p>
                  </a:txBody>
                  <a:tcPr marL="91440" marR="91440" marT="45720" marB="45720">
                    <a:solidFill>
                      <a:srgbClr val="713C6B"/>
                    </a:solidFill>
                  </a:tcPr>
                </a:tc>
                <a:tc>
                  <a:txBody>
                    <a:bodyPr/>
                    <a:lstStyle/>
                    <a:p>
                      <a:r>
                        <a:rPr sz="2100" b="1">
                          <a:solidFill>
                            <a:srgbClr val="FFFFFF"/>
                          </a:solidFill>
                          <a:latin typeface="Arial"/>
                          <a:ea typeface="Arial"/>
                          <a:cs typeface="Arial"/>
                        </a:rPr>
                        <a:t>Preserve actual BOS</a:t>
                      </a:r>
                    </a:p>
                  </a:txBody>
                  <a:tcPr marL="91440" marR="91440" marT="45720" marB="45720">
                    <a:solidFill>
                      <a:srgbClr val="713C6B"/>
                    </a:solidFill>
                  </a:tcPr>
                </a:tc>
                <a:tc>
                  <a:txBody>
                    <a:bodyPr/>
                    <a:lstStyle/>
                    <a:p>
                      <a:r>
                        <a:rPr sz="2100" b="1">
                          <a:solidFill>
                            <a:srgbClr val="FFFFFF"/>
                          </a:solidFill>
                          <a:latin typeface="Arial"/>
                          <a:ea typeface="Arial"/>
                          <a:cs typeface="Arial"/>
                        </a:rPr>
                        <a:t>Preserve each window start</a:t>
                      </a:r>
                    </a:p>
                  </a:txBody>
                  <a:tcPr marL="91440" marR="91440" marT="45720" marB="45720">
                    <a:solidFill>
                      <a:srgbClr val="713C6B"/>
                    </a:solidFill>
                  </a:tcPr>
                </a:tc>
              </a:tr>
              <a:tr h="768350">
                <a:tc>
                  <a:txBody>
                    <a:bodyPr/>
                    <a:lstStyle/>
                    <a:p>
                      <a:r>
                        <a:rPr sz="2100" b="0">
                          <a:solidFill>
                            <a:srgbClr val="302C35"/>
                          </a:solidFill>
                          <a:latin typeface="Arial"/>
                          <a:ea typeface="Arial"/>
                          <a:cs typeface="Arial"/>
                        </a:rPr>
                        <a:t>L02</a:t>
                      </a:r>
                    </a:p>
                  </a:txBody>
                  <a:tcPr marL="91440" marR="91440" marT="45720" marB="45720">
                    <a:solidFill>
                      <a:srgbClr val="F7F5F6"/>
                    </a:solidFill>
                  </a:tcPr>
                </a:tc>
                <a:tc>
                  <a:txBody>
                    <a:bodyPr/>
                    <a:lstStyle/>
                    <a:p>
                      <a:r>
                        <a:rPr sz="2100" b="0">
                          <a:solidFill>
                            <a:srgbClr val="302C35"/>
                          </a:solidFill>
                          <a:latin typeface="Arial"/>
                          <a:ea typeface="Arial"/>
                          <a:cs typeface="Arial"/>
                        </a:rPr>
                        <a:t>+6.395</a:t>
                      </a:r>
                    </a:p>
                  </a:txBody>
                  <a:tcPr marL="91440" marR="91440" marT="45720" marB="45720">
                    <a:solidFill>
                      <a:srgbClr val="F7F5F6"/>
                    </a:solidFill>
                  </a:tcPr>
                </a:tc>
                <a:tc>
                  <a:txBody>
                    <a:bodyPr/>
                    <a:lstStyle/>
                    <a:p>
                      <a:r>
                        <a:rPr sz="2100" b="1">
                          <a:solidFill>
                            <a:srgbClr val="302C35"/>
                          </a:solidFill>
                          <a:latin typeface="Arial"/>
                          <a:ea typeface="Arial"/>
                          <a:cs typeface="Arial"/>
                        </a:rPr>
                        <a:t>+0.032</a:t>
                      </a:r>
                    </a:p>
                  </a:txBody>
                  <a:tcPr marL="91440" marR="91440" marT="45720" marB="45720">
                    <a:solidFill>
                      <a:srgbClr val="F1E8EF"/>
                    </a:solidFill>
                  </a:tcPr>
                </a:tc>
              </a:tr>
              <a:tr h="768350">
                <a:tc>
                  <a:txBody>
                    <a:bodyPr/>
                    <a:lstStyle/>
                    <a:p>
                      <a:r>
                        <a:rPr sz="2100" b="0">
                          <a:solidFill>
                            <a:srgbClr val="302C35"/>
                          </a:solidFill>
                          <a:latin typeface="Arial"/>
                          <a:ea typeface="Arial"/>
                          <a:cs typeface="Arial"/>
                        </a:rPr>
                        <a:t>L03</a:t>
                      </a:r>
                    </a:p>
                  </a:txBody>
                  <a:tcPr marL="91440" marR="91440" marT="45720" marB="45720">
                    <a:solidFill>
                      <a:srgbClr val="FFFFFF"/>
                    </a:solidFill>
                  </a:tcPr>
                </a:tc>
                <a:tc>
                  <a:txBody>
                    <a:bodyPr/>
                    <a:lstStyle/>
                    <a:p>
                      <a:r>
                        <a:rPr sz="2100" b="0">
                          <a:solidFill>
                            <a:srgbClr val="302C35"/>
                          </a:solidFill>
                          <a:latin typeface="Arial"/>
                          <a:ea typeface="Arial"/>
                          <a:cs typeface="Arial"/>
                        </a:rPr>
                        <a:t>+3.158</a:t>
                      </a:r>
                    </a:p>
                  </a:txBody>
                  <a:tcPr marL="91440" marR="91440" marT="45720" marB="45720">
                    <a:solidFill>
                      <a:srgbClr val="FFFFFF"/>
                    </a:solidFill>
                  </a:tcPr>
                </a:tc>
                <a:tc>
                  <a:txBody>
                    <a:bodyPr/>
                    <a:lstStyle/>
                    <a:p>
                      <a:r>
                        <a:rPr sz="2100" b="1">
                          <a:solidFill>
                            <a:srgbClr val="302C35"/>
                          </a:solidFill>
                          <a:latin typeface="Arial"/>
                          <a:ea typeface="Arial"/>
                          <a:cs typeface="Arial"/>
                        </a:rPr>
                        <a:t>+0.093</a:t>
                      </a:r>
                    </a:p>
                  </a:txBody>
                  <a:tcPr marL="91440" marR="91440" marT="45720" marB="45720">
                    <a:solidFill>
                      <a:srgbClr val="F1E8EF"/>
                    </a:solidFill>
                  </a:tcPr>
                </a:tc>
              </a:tr>
            </a:tbl>
          </a:graphicData>
        </a:graphic>
      </p:graphicFrame>
      <p:sp>
        <p:nvSpPr>
          <p:cNvPr id="5" name="">
            <a:extLst xmlns:a="http://schemas.openxmlformats.org/drawingml/2006/main">
              <a:ext uri="{FF2B5EF4-FFF2-40B4-BE49-F238E27FC236}">
                <a16:creationId xmlns:a16="http://schemas.microsoft.com/office/drawing/2014/main" id="{28DCBAAE-CBF4-4108-8F88-AEB2752A0289}"/>
              </a:ext>
            </a:extLst>
          </p:cNvPr>
          <p:cNvSpPr>
            <a:spLocks xmlns:a="http://schemas.openxmlformats.org/drawingml/2006/main" noGrp="1"/>
          </p:cNvSpPr>
          <p:nvPr/>
        </p:nvSpPr>
        <p:spPr>
          <a:xfrm xmlns:a="http://schemas.openxmlformats.org/drawingml/2006/main">
            <a:off x="609600" y="45624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745C"/>
                </a:solidFill>
                <a:latin typeface="Arial"/>
                <a:ea typeface="Arial"/>
                <a:cs typeface="Arial"/>
              </a:defRPr>
            </a:pPr>
            <a:r>
              <a:rPr sz="2250" b="1">
                <a:solidFill>
                  <a:srgbClr val="26745C"/>
                </a:solidFill>
                <a:latin typeface="Arial"/>
                <a:ea typeface="Arial"/>
                <a:cs typeface="Arial"/>
              </a:rPr>
              <a:t>Final-hook reconstruction still adds loss</a:t>
            </a:r>
          </a:p>
        </p:txBody>
      </p:sp>
      <p:sp>
        <p:nvSpPr>
          <p:cNvPr id="6" name="">
            <a:extLst xmlns:a="http://schemas.openxmlformats.org/drawingml/2006/main">
              <a:ext uri="{FF2B5EF4-FFF2-40B4-BE49-F238E27FC236}">
                <a16:creationId xmlns:a16="http://schemas.microsoft.com/office/drawing/2014/main" id="{FC07B398-B61D-42DB-AD71-62BD9E44D40C}"/>
              </a:ext>
            </a:extLst>
          </p:cNvPr>
          <p:cNvSpPr>
            <a:spLocks xmlns:a="http://schemas.openxmlformats.org/drawingml/2006/main" noGrp="1"/>
          </p:cNvSpPr>
          <p:nvPr/>
        </p:nvSpPr>
        <p:spPr>
          <a:xfrm xmlns:a="http://schemas.openxmlformats.org/drawingml/2006/main">
            <a:off x="609600" y="51816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02C35"/>
                </a:solidFill>
                <a:latin typeface="Arial"/>
                <a:ea typeface="Arial"/>
                <a:cs typeface="Arial"/>
              </a:defRPr>
            </a:pPr>
            <a:r>
              <a:rPr sz="2100" b="0">
                <a:solidFill>
                  <a:srgbClr val="302C35"/>
                </a:solidFill>
                <a:latin typeface="Arial"/>
                <a:ea typeface="Arial"/>
                <a:cs typeface="Arial"/>
              </a:rPr>
              <a:t>+0.533 bits/token in Provo and +0.679 in Natural Stories</a:t>
            </a:r>
          </a:p>
        </p:txBody>
      </p:sp>
    </p:spTree>
    <p:extLst>
      <p:ext uri="{BB962C8B-B14F-4D97-AF65-F5344CB8AC3E}">
        <p14:creationId xmlns:p14="http://schemas.microsoft.com/office/powerpoint/2010/main" val="18242210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0DD266-68CD-4D57-B2BE-7933FF7ED0DA}"/>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One feature exposed a scaling failure</a:t>
            </a:r>
          </a:p>
        </p:txBody>
      </p:sp>
      <p:sp>
        <p:nvSpPr>
          <p:cNvPr id="2" name="">
            <a:extLst xmlns:a="http://schemas.openxmlformats.org/drawingml/2006/main">
              <a:ext uri="{FF2B5EF4-FFF2-40B4-BE49-F238E27FC236}">
                <a16:creationId xmlns:a16="http://schemas.microsoft.com/office/drawing/2014/main" id="{B14B643D-C54B-4B36-BB1E-86601978C91D}"/>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Fixed L01 diagnostic: story 8, saucer after-word and or before-word. Feature 16980.</a:t>
            </a:r>
          </a:p>
        </p:txBody>
      </p:sp>
      <p:sp>
        <p:nvSpPr>
          <p:cNvPr id="3" name="">
            <a:extLst xmlns:a="http://schemas.openxmlformats.org/drawingml/2006/main">
              <a:ext uri="{FF2B5EF4-FFF2-40B4-BE49-F238E27FC236}">
                <a16:creationId xmlns:a16="http://schemas.microsoft.com/office/drawing/2014/main" id="{93720644-086A-4B3A-AA70-45518CFBCB63}"/>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11</a:t>
            </a:r>
          </a:p>
        </p:txBody>
      </p:sp>
      <p:graphicFrame>
        <p:nvGraphicFramePr>
          <p:cNvPr id="10" name=""/>
          <p:cNvGraphicFramePr/>
          <p:nvPr/>
        </p:nvGraphicFramePr>
        <p:xfrm>
          <a:off xmlns:a="http://schemas.openxmlformats.org/drawingml/2006/main" x="609600" y="1552575"/>
          <a:ext xmlns:a="http://schemas.openxmlformats.org/drawingml/2006/main" cx="10972800" cy="2705100"/>
        </p:xfrm>
        <a:graphic xmlns:a="http://schemas.openxmlformats.org/drawingml/2006/main">
          <a:graphicData uri="http://schemas.openxmlformats.org/drawingml/2006/table">
            <a:tbl>
              <a:tblPr firstRow="0" bandRow="0"/>
              <a:tblGrid>
                <a:gridCol w="6762750"/>
                <a:gridCol w="4210050"/>
              </a:tblGrid>
              <a:tr h="676275">
                <a:tc>
                  <a:txBody>
                    <a:bodyPr/>
                    <a:lstStyle/>
                    <a:p>
                      <a:r>
                        <a:rPr sz="2100" b="1">
                          <a:solidFill>
                            <a:srgbClr val="FFFFFF"/>
                          </a:solidFill>
                          <a:latin typeface="Arial"/>
                          <a:ea typeface="Arial"/>
                          <a:cs typeface="Arial"/>
                        </a:rPr>
                        <a:t>Quantity</a:t>
                      </a:r>
                    </a:p>
                  </a:txBody>
                  <a:tcPr marL="91440" marR="91440" marT="45720" marB="45720">
                    <a:solidFill>
                      <a:srgbClr val="713C6B"/>
                    </a:solidFill>
                  </a:tcPr>
                </a:tc>
                <a:tc>
                  <a:txBody>
                    <a:bodyPr/>
                    <a:lstStyle/>
                    <a:p>
                      <a:r>
                        <a:rPr sz="2100" b="1">
                          <a:solidFill>
                            <a:srgbClr val="FFFFFF"/>
                          </a:solidFill>
                          <a:latin typeface="Arial"/>
                          <a:ea typeface="Arial"/>
                          <a:cs typeface="Arial"/>
                        </a:rPr>
                        <a:t>Observed value</a:t>
                      </a:r>
                    </a:p>
                  </a:txBody>
                  <a:tcPr marL="91440" marR="91440" marT="45720" marB="45720">
                    <a:solidFill>
                      <a:srgbClr val="713C6B"/>
                    </a:solidFill>
                  </a:tcPr>
                </a:tc>
              </a:tr>
              <a:tr h="676275">
                <a:tc>
                  <a:txBody>
                    <a:bodyPr/>
                    <a:lstStyle/>
                    <a:p>
                      <a:r>
                        <a:rPr sz="2100" b="0">
                          <a:solidFill>
                            <a:srgbClr val="302C35"/>
                          </a:solidFill>
                          <a:latin typeface="Arial"/>
                          <a:ea typeface="Arial"/>
                          <a:cs typeface="Arial"/>
                        </a:rPr>
                        <a:t>Largest training activation</a:t>
                      </a:r>
                    </a:p>
                  </a:txBody>
                  <a:tcPr marL="91440" marR="91440" marT="45720" marB="45720">
                    <a:solidFill>
                      <a:srgbClr val="F7F5F6"/>
                    </a:solidFill>
                  </a:tcPr>
                </a:tc>
                <a:tc>
                  <a:txBody>
                    <a:bodyPr/>
                    <a:lstStyle/>
                    <a:p>
                      <a:r>
                        <a:rPr sz="2100" b="1">
                          <a:solidFill>
                            <a:srgbClr val="302C35"/>
                          </a:solidFill>
                          <a:latin typeface="Arial"/>
                          <a:ea typeface="Arial"/>
                          <a:cs typeface="Arial"/>
                        </a:rPr>
                        <a:t>0.000034</a:t>
                      </a:r>
                    </a:p>
                  </a:txBody>
                  <a:tcPr marL="91440" marR="91440" marT="45720" marB="45720">
                    <a:solidFill>
                      <a:srgbClr val="F1E8EF"/>
                    </a:solidFill>
                  </a:tcPr>
                </a:tc>
              </a:tr>
              <a:tr h="676275">
                <a:tc>
                  <a:txBody>
                    <a:bodyPr/>
                    <a:lstStyle/>
                    <a:p>
                      <a:r>
                        <a:rPr sz="2100" b="0">
                          <a:solidFill>
                            <a:srgbClr val="302C35"/>
                          </a:solidFill>
                          <a:latin typeface="Arial"/>
                          <a:ea typeface="Arial"/>
                          <a:cs typeface="Arial"/>
                        </a:rPr>
                        <a:t>Training standard deviation</a:t>
                      </a:r>
                    </a:p>
                  </a:txBody>
                  <a:tcPr marL="91440" marR="91440" marT="45720" marB="45720">
                    <a:solidFill>
                      <a:srgbClr val="FFFFFF"/>
                    </a:solidFill>
                  </a:tcPr>
                </a:tc>
                <a:tc>
                  <a:txBody>
                    <a:bodyPr/>
                    <a:lstStyle/>
                    <a:p>
                      <a:r>
                        <a:rPr sz="2100" b="1">
                          <a:solidFill>
                            <a:srgbClr val="302C35"/>
                          </a:solidFill>
                          <a:latin typeface="Arial"/>
                          <a:ea typeface="Arial"/>
                          <a:cs typeface="Arial"/>
                        </a:rPr>
                        <a:t>0.00000122</a:t>
                      </a:r>
                    </a:p>
                  </a:txBody>
                  <a:tcPr marL="91440" marR="91440" marT="45720" marB="45720">
                    <a:solidFill>
                      <a:srgbClr val="F1E8EF"/>
                    </a:solidFill>
                  </a:tcPr>
                </a:tc>
              </a:tr>
              <a:tr h="676275">
                <a:tc>
                  <a:txBody>
                    <a:bodyPr/>
                    <a:lstStyle/>
                    <a:p>
                      <a:r>
                        <a:rPr sz="2100" b="0">
                          <a:solidFill>
                            <a:srgbClr val="302C35"/>
                          </a:solidFill>
                          <a:latin typeface="Arial"/>
                          <a:ea typeface="Arial"/>
                          <a:cs typeface="Arial"/>
                        </a:rPr>
                        <a:t>Held-out activation</a:t>
                      </a:r>
                    </a:p>
                  </a:txBody>
                  <a:tcPr marL="91440" marR="91440" marT="45720" marB="45720">
                    <a:solidFill>
                      <a:srgbClr val="F7F5F6"/>
                    </a:solidFill>
                  </a:tcPr>
                </a:tc>
                <a:tc>
                  <a:txBody>
                    <a:bodyPr/>
                    <a:lstStyle/>
                    <a:p>
                      <a:r>
                        <a:rPr sz="2100" b="1">
                          <a:solidFill>
                            <a:srgbClr val="302C35"/>
                          </a:solidFill>
                          <a:latin typeface="Arial"/>
                          <a:ea typeface="Arial"/>
                          <a:cs typeface="Arial"/>
                        </a:rPr>
                        <a:t>0.777</a:t>
                      </a:r>
                    </a:p>
                  </a:txBody>
                  <a:tcPr marL="91440" marR="91440" marT="45720" marB="45720">
                    <a:solidFill>
                      <a:srgbClr val="F1E8EF"/>
                    </a:solidFill>
                  </a:tcPr>
                </a:tc>
              </a:tr>
            </a:tbl>
          </a:graphicData>
        </a:graphic>
      </p:graphicFrame>
      <p:sp>
        <p:nvSpPr>
          <p:cNvPr id="5" name="">
            <a:extLst xmlns:a="http://schemas.openxmlformats.org/drawingml/2006/main">
              <a:ext uri="{FF2B5EF4-FFF2-40B4-BE49-F238E27FC236}">
                <a16:creationId xmlns:a16="http://schemas.microsoft.com/office/drawing/2014/main" id="{2D360F14-7BFE-439A-828F-8A9FC39FEAD5}"/>
              </a:ext>
            </a:extLst>
          </p:cNvPr>
          <p:cNvSpPr>
            <a:spLocks xmlns:a="http://schemas.openxmlformats.org/drawingml/2006/main" noGrp="1"/>
          </p:cNvSpPr>
          <p:nvPr/>
        </p:nvSpPr>
        <p:spPr>
          <a:xfrm xmlns:a="http://schemas.openxmlformats.org/drawingml/2006/main">
            <a:off x="609600" y="46101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Follow-up rule, computed inside every training fold</a:t>
            </a:r>
          </a:p>
        </p:txBody>
      </p:sp>
      <p:sp>
        <p:nvSpPr>
          <p:cNvPr id="6" name="">
            <a:extLst xmlns:a="http://schemas.openxmlformats.org/drawingml/2006/main">
              <a:ext uri="{FF2B5EF4-FFF2-40B4-BE49-F238E27FC236}">
                <a16:creationId xmlns:a16="http://schemas.microsoft.com/office/drawing/2014/main" id="{9B6FEAF9-229F-47B2-99D3-0754DEE94480}"/>
              </a:ext>
            </a:extLst>
          </p:cNvPr>
          <p:cNvSpPr>
            <a:spLocks xmlns:a="http://schemas.openxmlformats.org/drawingml/2006/main" noGrp="1"/>
          </p:cNvSpPr>
          <p:nvPr/>
        </p:nvSpPr>
        <p:spPr>
          <a:xfrm xmlns:a="http://schemas.openxmlformats.org/drawingml/2006/main">
            <a:off x="609600" y="52101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02C35"/>
                </a:solidFill>
                <a:latin typeface="Arial"/>
                <a:ea typeface="Arial"/>
                <a:cs typeface="Arial"/>
              </a:defRPr>
            </a:pPr>
            <a:r>
              <a:rPr sz="2175" b="0">
                <a:solidFill>
                  <a:srgbClr val="302C35"/>
                </a:solidFill>
                <a:latin typeface="Arial"/>
                <a:ea typeface="Arial"/>
                <a:cs typeface="Arial"/>
              </a:rPr>
              <a:t>Scale = max(feature SD, median SD of retained features)</a:t>
            </a:r>
          </a:p>
        </p:txBody>
      </p:sp>
    </p:spTree>
    <p:extLst>
      <p:ext uri="{BB962C8B-B14F-4D97-AF65-F5344CB8AC3E}">
        <p14:creationId xmlns:p14="http://schemas.microsoft.com/office/powerpoint/2010/main" val="12337321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B6A061-CE26-4F0D-9E71-C8DB55967720}"/>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The scaling follow-up retains useful signal</a:t>
            </a:r>
          </a:p>
        </p:txBody>
      </p:sp>
      <p:sp>
        <p:nvSpPr>
          <p:cNvPr id="2" name="">
            <a:extLst xmlns:a="http://schemas.openxmlformats.org/drawingml/2006/main">
              <a:ext uri="{FF2B5EF4-FFF2-40B4-BE49-F238E27FC236}">
                <a16:creationId xmlns:a16="http://schemas.microsoft.com/office/drawing/2014/main" id="{4E49B09B-4929-4B8E-A27E-347107ED290A}"/>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Fixed L01 only. Exploratory follow-up after observing a failure. Original all-hook results remain unchanged.</a:t>
            </a:r>
          </a:p>
        </p:txBody>
      </p:sp>
      <p:sp>
        <p:nvSpPr>
          <p:cNvPr id="3" name="">
            <a:extLst xmlns:a="http://schemas.openxmlformats.org/drawingml/2006/main">
              <a:ext uri="{FF2B5EF4-FFF2-40B4-BE49-F238E27FC236}">
                <a16:creationId xmlns:a16="http://schemas.microsoft.com/office/drawing/2014/main" id="{23373D58-0756-445B-8AEA-F39F693E079E}"/>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12</a:t>
            </a:r>
          </a:p>
        </p:txBody>
      </p:sp>
      <p:graphicFrame>
        <p:nvGraphicFramePr>
          <p:cNvPr id="9" name=""/>
          <p:cNvGraphicFramePr/>
          <p:nvPr/>
        </p:nvGraphicFramePr>
        <p:xfrm>
          <a:off xmlns:a="http://schemas.openxmlformats.org/drawingml/2006/main" x="609600" y="1600200"/>
          <a:ext xmlns:a="http://schemas.openxmlformats.org/drawingml/2006/main" cx="10972800" cy="3200400"/>
        </p:xfrm>
        <a:graphic xmlns:a="http://schemas.openxmlformats.org/drawingml/2006/main">
          <a:graphicData uri="http://schemas.openxmlformats.org/drawingml/2006/table">
            <a:tbl>
              <a:tblPr firstRow="0" bandRow="0"/>
              <a:tblGrid>
                <a:gridCol w="4333875"/>
                <a:gridCol w="3619500"/>
                <a:gridCol w="3019425"/>
              </a:tblGrid>
              <a:tr h="640080">
                <a:tc>
                  <a:txBody>
                    <a:bodyPr/>
                    <a:lstStyle/>
                    <a:p>
                      <a:r>
                        <a:rPr sz="1950" b="1">
                          <a:solidFill>
                            <a:srgbClr val="FFFFFF"/>
                          </a:solidFill>
                          <a:latin typeface="Arial"/>
                          <a:ea typeface="Arial"/>
                          <a:cs typeface="Arial"/>
                        </a:rPr>
                        <a:t>Corpus / state</a:t>
                      </a:r>
                    </a:p>
                  </a:txBody>
                  <a:tcPr marL="91440" marR="91440" marT="45720" marB="45720">
                    <a:solidFill>
                      <a:srgbClr val="713C6B"/>
                    </a:solidFill>
                  </a:tcPr>
                </a:tc>
                <a:tc>
                  <a:txBody>
                    <a:bodyPr/>
                    <a:lstStyle/>
                    <a:p>
                      <a:r>
                        <a:rPr sz="1950" b="1">
                          <a:solidFill>
                            <a:srgbClr val="FFFFFF"/>
                          </a:solidFill>
                          <a:latin typeface="Arial"/>
                          <a:ea typeface="Arial"/>
                          <a:cs typeface="Arial"/>
                        </a:rPr>
                        <a:t>Gain with scale floor (pp)</a:t>
                      </a:r>
                    </a:p>
                  </a:txBody>
                  <a:tcPr marL="91440" marR="91440" marT="45720" marB="45720">
                    <a:solidFill>
                      <a:srgbClr val="713C6B"/>
                    </a:solidFill>
                  </a:tcPr>
                </a:tc>
                <a:tc>
                  <a:txBody>
                    <a:bodyPr/>
                    <a:lstStyle/>
                    <a:p>
                      <a:r>
                        <a:rPr sz="1950" b="1">
                          <a:solidFill>
                            <a:srgbClr val="FFFFFF"/>
                          </a:solidFill>
                          <a:latin typeface="Arial"/>
                          <a:ea typeface="Arial"/>
                          <a:cs typeface="Arial"/>
                        </a:rPr>
                        <a:t>95% interval</a:t>
                      </a:r>
                    </a:p>
                  </a:txBody>
                  <a:tcPr marL="91440" marR="91440" marT="45720" marB="45720">
                    <a:solidFill>
                      <a:srgbClr val="713C6B"/>
                    </a:solidFill>
                  </a:tcPr>
                </a:tc>
              </a:tr>
              <a:tr h="640080">
                <a:tc>
                  <a:txBody>
                    <a:bodyPr/>
                    <a:lstStyle/>
                    <a:p>
                      <a:r>
                        <a:rPr sz="1950" b="0">
                          <a:solidFill>
                            <a:srgbClr val="302C35"/>
                          </a:solidFill>
                          <a:latin typeface="Arial"/>
                          <a:ea typeface="Arial"/>
                          <a:cs typeface="Arial"/>
                        </a:rPr>
                        <a:t>Provo / before</a:t>
                      </a:r>
                    </a:p>
                  </a:txBody>
                  <a:tcPr marL="91440" marR="91440" marT="45720" marB="45720">
                    <a:solidFill>
                      <a:srgbClr val="F7F5F6"/>
                    </a:solidFill>
                  </a:tcPr>
                </a:tc>
                <a:tc>
                  <a:txBody>
                    <a:bodyPr/>
                    <a:lstStyle/>
                    <a:p>
                      <a:r>
                        <a:rPr sz="1950" b="1">
                          <a:solidFill>
                            <a:srgbClr val="302C35"/>
                          </a:solidFill>
                          <a:latin typeface="Arial"/>
                          <a:ea typeface="Arial"/>
                          <a:cs typeface="Arial"/>
                        </a:rPr>
                        <a:t>+3.41</a:t>
                      </a:r>
                    </a:p>
                  </a:txBody>
                  <a:tcPr marL="91440" marR="91440" marT="45720" marB="45720">
                    <a:solidFill>
                      <a:srgbClr val="F1E8EF"/>
                    </a:solidFill>
                  </a:tcPr>
                </a:tc>
                <a:tc>
                  <a:txBody>
                    <a:bodyPr/>
                    <a:lstStyle/>
                    <a:p>
                      <a:r>
                        <a:rPr sz="1950" b="0">
                          <a:solidFill>
                            <a:srgbClr val="302C35"/>
                          </a:solidFill>
                          <a:latin typeface="Arial"/>
                          <a:ea typeface="Arial"/>
                          <a:cs typeface="Arial"/>
                        </a:rPr>
                        <a:t>[+2.53, +4.33]</a:t>
                      </a:r>
                    </a:p>
                  </a:txBody>
                  <a:tcPr marL="91440" marR="91440" marT="45720" marB="45720">
                    <a:solidFill>
                      <a:srgbClr val="F7F5F6"/>
                    </a:solidFill>
                  </a:tcPr>
                </a:tc>
              </a:tr>
              <a:tr h="640080">
                <a:tc>
                  <a:txBody>
                    <a:bodyPr/>
                    <a:lstStyle/>
                    <a:p>
                      <a:r>
                        <a:rPr sz="1950" b="0">
                          <a:solidFill>
                            <a:srgbClr val="302C35"/>
                          </a:solidFill>
                          <a:latin typeface="Arial"/>
                          <a:ea typeface="Arial"/>
                          <a:cs typeface="Arial"/>
                        </a:rPr>
                        <a:t>Provo / after</a:t>
                      </a:r>
                    </a:p>
                  </a:txBody>
                  <a:tcPr marL="91440" marR="91440" marT="45720" marB="45720">
                    <a:solidFill>
                      <a:srgbClr val="FFFFFF"/>
                    </a:solidFill>
                  </a:tcPr>
                </a:tc>
                <a:tc>
                  <a:txBody>
                    <a:bodyPr/>
                    <a:lstStyle/>
                    <a:p>
                      <a:r>
                        <a:rPr sz="1950" b="1">
                          <a:solidFill>
                            <a:srgbClr val="302C35"/>
                          </a:solidFill>
                          <a:latin typeface="Arial"/>
                          <a:ea typeface="Arial"/>
                          <a:cs typeface="Arial"/>
                        </a:rPr>
                        <a:t>+6.53</a:t>
                      </a:r>
                    </a:p>
                  </a:txBody>
                  <a:tcPr marL="91440" marR="91440" marT="45720" marB="45720">
                    <a:solidFill>
                      <a:srgbClr val="F1E8EF"/>
                    </a:solidFill>
                  </a:tcPr>
                </a:tc>
                <a:tc>
                  <a:txBody>
                    <a:bodyPr/>
                    <a:lstStyle/>
                    <a:p>
                      <a:r>
                        <a:rPr sz="1950" b="0">
                          <a:solidFill>
                            <a:srgbClr val="302C35"/>
                          </a:solidFill>
                          <a:latin typeface="Arial"/>
                          <a:ea typeface="Arial"/>
                          <a:cs typeface="Arial"/>
                        </a:rPr>
                        <a:t>[+5.28, +7.82]</a:t>
                      </a:r>
                    </a:p>
                  </a:txBody>
                  <a:tcPr marL="91440" marR="91440" marT="45720" marB="45720">
                    <a:solidFill>
                      <a:srgbClr val="FFFFFF"/>
                    </a:solidFill>
                  </a:tcPr>
                </a:tc>
              </a:tr>
              <a:tr h="640080">
                <a:tc>
                  <a:txBody>
                    <a:bodyPr/>
                    <a:lstStyle/>
                    <a:p>
                      <a:r>
                        <a:rPr sz="1950" b="0">
                          <a:solidFill>
                            <a:srgbClr val="302C35"/>
                          </a:solidFill>
                          <a:latin typeface="Arial"/>
                          <a:ea typeface="Arial"/>
                          <a:cs typeface="Arial"/>
                        </a:rPr>
                        <a:t>Natural Stories / before</a:t>
                      </a:r>
                    </a:p>
                  </a:txBody>
                  <a:tcPr marL="91440" marR="91440" marT="45720" marB="45720">
                    <a:solidFill>
                      <a:srgbClr val="F7F5F6"/>
                    </a:solidFill>
                  </a:tcPr>
                </a:tc>
                <a:tc>
                  <a:txBody>
                    <a:bodyPr/>
                    <a:lstStyle/>
                    <a:p>
                      <a:r>
                        <a:rPr sz="1950" b="1">
                          <a:solidFill>
                            <a:srgbClr val="302C35"/>
                          </a:solidFill>
                          <a:latin typeface="Arial"/>
                          <a:ea typeface="Arial"/>
                          <a:cs typeface="Arial"/>
                        </a:rPr>
                        <a:t>+0.62</a:t>
                      </a:r>
                    </a:p>
                  </a:txBody>
                  <a:tcPr marL="91440" marR="91440" marT="45720" marB="45720">
                    <a:solidFill>
                      <a:srgbClr val="F1E8EF"/>
                    </a:solidFill>
                  </a:tcPr>
                </a:tc>
                <a:tc>
                  <a:txBody>
                    <a:bodyPr/>
                    <a:lstStyle/>
                    <a:p>
                      <a:r>
                        <a:rPr sz="1950" b="0">
                          <a:solidFill>
                            <a:srgbClr val="302C35"/>
                          </a:solidFill>
                          <a:latin typeface="Arial"/>
                          <a:ea typeface="Arial"/>
                          <a:cs typeface="Arial"/>
                        </a:rPr>
                        <a:t>[+0.20, +0.95]</a:t>
                      </a:r>
                    </a:p>
                  </a:txBody>
                  <a:tcPr marL="91440" marR="91440" marT="45720" marB="45720">
                    <a:solidFill>
                      <a:srgbClr val="F7F5F6"/>
                    </a:solidFill>
                  </a:tcPr>
                </a:tc>
              </a:tr>
              <a:tr h="640080">
                <a:tc>
                  <a:txBody>
                    <a:bodyPr/>
                    <a:lstStyle/>
                    <a:p>
                      <a:r>
                        <a:rPr sz="1950" b="0">
                          <a:solidFill>
                            <a:srgbClr val="302C35"/>
                          </a:solidFill>
                          <a:latin typeface="Arial"/>
                          <a:ea typeface="Arial"/>
                          <a:cs typeface="Arial"/>
                        </a:rPr>
                        <a:t>Natural Stories / after</a:t>
                      </a:r>
                    </a:p>
                  </a:txBody>
                  <a:tcPr marL="91440" marR="91440" marT="45720" marB="45720">
                    <a:solidFill>
                      <a:srgbClr val="FFFFFF"/>
                    </a:solidFill>
                  </a:tcPr>
                </a:tc>
                <a:tc>
                  <a:txBody>
                    <a:bodyPr/>
                    <a:lstStyle/>
                    <a:p>
                      <a:r>
                        <a:rPr sz="1950" b="1">
                          <a:solidFill>
                            <a:srgbClr val="302C35"/>
                          </a:solidFill>
                          <a:latin typeface="Arial"/>
                          <a:ea typeface="Arial"/>
                          <a:cs typeface="Arial"/>
                        </a:rPr>
                        <a:t>+2.13</a:t>
                      </a:r>
                    </a:p>
                  </a:txBody>
                  <a:tcPr marL="91440" marR="91440" marT="45720" marB="45720">
                    <a:solidFill>
                      <a:srgbClr val="F1E8EF"/>
                    </a:solidFill>
                  </a:tcPr>
                </a:tc>
                <a:tc>
                  <a:txBody>
                    <a:bodyPr/>
                    <a:lstStyle/>
                    <a:p>
                      <a:r>
                        <a:rPr sz="1950" b="0">
                          <a:solidFill>
                            <a:srgbClr val="302C35"/>
                          </a:solidFill>
                          <a:latin typeface="Arial"/>
                          <a:ea typeface="Arial"/>
                          <a:cs typeface="Arial"/>
                        </a:rPr>
                        <a:t>[+1.47, +2.81]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6DA9BF2-CED3-45A5-AFB9-4969667FCC20}"/>
              </a:ext>
            </a:extLst>
          </p:cNvPr>
          <p:cNvSpPr>
            <a:spLocks xmlns:a="http://schemas.openxmlformats.org/drawingml/2006/main" noGrp="1"/>
          </p:cNvSpPr>
          <p:nvPr/>
        </p:nvSpPr>
        <p:spPr>
          <a:xfrm xmlns:a="http://schemas.openxmlformats.org/drawingml/2006/main">
            <a:off x="609600" y="52101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Provo after-word: +6.58 originally, +6.53 with the floor</a:t>
            </a:r>
          </a:p>
        </p:txBody>
      </p:sp>
    </p:spTree>
    <p:extLst>
      <p:ext uri="{BB962C8B-B14F-4D97-AF65-F5344CB8AC3E}">
        <p14:creationId xmlns:p14="http://schemas.microsoft.com/office/powerpoint/2010/main" val="998981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D81D4B-22E8-48D9-86BC-06CFAB9E332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The next research steps</a:t>
            </a:r>
          </a:p>
        </p:txBody>
      </p:sp>
      <p:sp>
        <p:nvSpPr>
          <p:cNvPr id="2" name="">
            <a:extLst xmlns:a="http://schemas.openxmlformats.org/drawingml/2006/main">
              <a:ext uri="{FF2B5EF4-FFF2-40B4-BE49-F238E27FC236}">
                <a16:creationId xmlns:a16="http://schemas.microsoft.com/office/drawing/2014/main" id="{EED7D1FC-0BAC-49E5-A760-EC77190A7C17}"/>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Next deliverable: a controlled representation comparison, followed by a small set of auditable feature dossiers.</a:t>
            </a:r>
          </a:p>
        </p:txBody>
      </p:sp>
      <p:sp>
        <p:nvSpPr>
          <p:cNvPr id="3" name="">
            <a:extLst xmlns:a="http://schemas.openxmlformats.org/drawingml/2006/main">
              <a:ext uri="{FF2B5EF4-FFF2-40B4-BE49-F238E27FC236}">
                <a16:creationId xmlns:a16="http://schemas.microsoft.com/office/drawing/2014/main" id="{C87E334C-5B83-4399-8CB1-59B526DC4F98}"/>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A12CBC56-DD58-484C-9F9D-AF6DB0CD5DD7}"/>
              </a:ext>
            </a:extLst>
          </p:cNvPr>
          <p:cNvSpPr>
            <a:spLocks xmlns:a="http://schemas.openxmlformats.org/drawingml/2006/main" noGrp="1"/>
          </p:cNvSpPr>
          <p:nvPr/>
        </p:nvSpPr>
        <p:spPr>
          <a:xfrm xmlns:a="http://schemas.openxmlformats.org/drawingml/2006/main">
            <a:off x="609600" y="15240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1  Resolve lexical and scaling explanations</a:t>
            </a:r>
          </a:p>
        </p:txBody>
      </p:sp>
      <p:sp>
        <p:nvSpPr>
          <p:cNvPr id="5" name="">
            <a:extLst xmlns:a="http://schemas.openxmlformats.org/drawingml/2006/main">
              <a:ext uri="{FF2B5EF4-FFF2-40B4-BE49-F238E27FC236}">
                <a16:creationId xmlns:a16="http://schemas.microsoft.com/office/drawing/2014/main" id="{CD1D3B5A-D7E5-4867-BCEE-8F294CCBB9D6}"/>
              </a:ext>
            </a:extLst>
          </p:cNvPr>
          <p:cNvSpPr>
            <a:spLocks xmlns:a="http://schemas.openxmlformats.org/drawingml/2006/main" noGrp="1"/>
          </p:cNvSpPr>
          <p:nvPr/>
        </p:nvSpPr>
        <p:spPr>
          <a:xfrm xmlns:a="http://schemas.openxmlformats.org/drawingml/2006/main">
            <a:off x="609600" y="19812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Add token/position controls and a separately declared all-hook scaling sensitivity.</a:t>
            </a:r>
          </a:p>
        </p:txBody>
      </p:sp>
      <p:sp>
        <p:nvSpPr>
          <p:cNvPr id="6" name="">
            <a:extLst xmlns:a="http://schemas.openxmlformats.org/drawingml/2006/main">
              <a:ext uri="{FF2B5EF4-FFF2-40B4-BE49-F238E27FC236}">
                <a16:creationId xmlns:a16="http://schemas.microsoft.com/office/drawing/2014/main" id="{BC6C19D2-CD84-47FD-834E-5CA75FC79AD4}"/>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2  Validate candidate features</a:t>
            </a:r>
          </a:p>
        </p:txBody>
      </p:sp>
      <p:sp>
        <p:nvSpPr>
          <p:cNvPr id="7" name="">
            <a:extLst xmlns:a="http://schemas.openxmlformats.org/drawingml/2006/main">
              <a:ext uri="{FF2B5EF4-FFF2-40B4-BE49-F238E27FC236}">
                <a16:creationId xmlns:a16="http://schemas.microsoft.com/office/drawing/2014/main" id="{1BC44919-3065-41FB-B640-8D4FE8BBAAA7}"/>
              </a:ext>
            </a:extLst>
          </p:cNvPr>
          <p:cNvSpPr>
            <a:spLocks xmlns:a="http://schemas.openxmlformats.org/drawingml/2006/main" noGrp="1"/>
          </p:cNvSpPr>
          <p:nvPr/>
        </p:nvSpPr>
        <p:spPr>
          <a:xfrm xmlns:a="http://schemas.openxmlformats.org/drawingml/2006/main">
            <a:off x="609600" y="33623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Check training-fold stability, independent examples and linguistic minimal pairs.</a:t>
            </a:r>
          </a:p>
        </p:txBody>
      </p:sp>
      <p:sp>
        <p:nvSpPr>
          <p:cNvPr id="8" name="">
            <a:extLst xmlns:a="http://schemas.openxmlformats.org/drawingml/2006/main">
              <a:ext uri="{FF2B5EF4-FFF2-40B4-BE49-F238E27FC236}">
                <a16:creationId xmlns:a16="http://schemas.microsoft.com/office/drawing/2014/main" id="{FC691B69-9B82-4134-9D6D-935CC2715BEC}"/>
              </a:ext>
            </a:extLst>
          </p:cNvPr>
          <p:cNvSpPr>
            <a:spLocks xmlns:a="http://schemas.openxmlformats.org/drawingml/2006/main" noGrp="1"/>
          </p:cNvSpPr>
          <p:nvPr/>
        </p:nvSpPr>
        <p:spPr>
          <a:xfrm xmlns:a="http://schemas.openxmlformats.org/drawingml/2006/main">
            <a:off x="609600" y="4286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3  Test interventions in GPT-2</a:t>
            </a:r>
          </a:p>
        </p:txBody>
      </p:sp>
      <p:sp>
        <p:nvSpPr>
          <p:cNvPr id="9" name="">
            <a:extLst xmlns:a="http://schemas.openxmlformats.org/drawingml/2006/main">
              <a:ext uri="{FF2B5EF4-FFF2-40B4-BE49-F238E27FC236}">
                <a16:creationId xmlns:a16="http://schemas.microsoft.com/office/drawing/2014/main" id="{A18476F3-C41C-4D26-A554-244C6040808D}"/>
              </a:ext>
            </a:extLst>
          </p:cNvPr>
          <p:cNvSpPr>
            <a:spLocks xmlns:a="http://schemas.openxmlformats.org/drawingml/2006/main" noGrp="1"/>
          </p:cNvSpPr>
          <p:nvPr/>
        </p:nvSpPr>
        <p:spPr>
          <a:xfrm xmlns:a="http://schemas.openxmlformats.org/drawingml/2006/main">
            <a:off x="609600" y="47434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Expand fidelity checks, then compare feature changes with identity and random controls.</a:t>
            </a:r>
          </a:p>
        </p:txBody>
      </p:sp>
    </p:spTree>
    <p:extLst>
      <p:ext uri="{BB962C8B-B14F-4D97-AF65-F5344CB8AC3E}">
        <p14:creationId xmlns:p14="http://schemas.microsoft.com/office/powerpoint/2010/main" val="20705665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2C2E65-0A7D-416B-96DF-4939D7AB492E}"/>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Questions for the research meeting</a:t>
            </a:r>
          </a:p>
        </p:txBody>
      </p:sp>
      <p:sp>
        <p:nvSpPr>
          <p:cNvPr id="2" name="">
            <a:extLst xmlns:a="http://schemas.openxmlformats.org/drawingml/2006/main">
              <a:ext uri="{FF2B5EF4-FFF2-40B4-BE49-F238E27FC236}">
                <a16:creationId xmlns:a16="http://schemas.microsoft.com/office/drawing/2014/main" id="{6BD43F4F-80F7-42BC-AA36-1F9847B8D894}"/>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Current conclusion: sparse features add RT information, with corpus-dependent tradeoffs against dense states.</a:t>
            </a:r>
          </a:p>
        </p:txBody>
      </p:sp>
      <p:sp>
        <p:nvSpPr>
          <p:cNvPr id="3" name="">
            <a:extLst xmlns:a="http://schemas.openxmlformats.org/drawingml/2006/main">
              <a:ext uri="{FF2B5EF4-FFF2-40B4-BE49-F238E27FC236}">
                <a16:creationId xmlns:a16="http://schemas.microsoft.com/office/drawing/2014/main" id="{3C192620-758A-4821-B3A8-0428325110EF}"/>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217D16C1-BF49-422D-95CD-446CC5A61B58}"/>
              </a:ext>
            </a:extLst>
          </p:cNvPr>
          <p:cNvSpPr>
            <a:spLocks xmlns:a="http://schemas.openxmlformats.org/drawingml/2006/main" noGrp="1"/>
          </p:cNvSpPr>
          <p:nvPr/>
        </p:nvSpPr>
        <p:spPr>
          <a:xfrm xmlns:a="http://schemas.openxmlformats.org/drawingml/2006/main">
            <a:off x="609600" y="1619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Immediate experiment</a:t>
            </a:r>
          </a:p>
        </p:txBody>
      </p:sp>
      <p:sp>
        <p:nvSpPr>
          <p:cNvPr id="5" name="">
            <a:extLst xmlns:a="http://schemas.openxmlformats.org/drawingml/2006/main">
              <a:ext uri="{FF2B5EF4-FFF2-40B4-BE49-F238E27FC236}">
                <a16:creationId xmlns:a16="http://schemas.microsoft.com/office/drawing/2014/main" id="{1A14F8D2-577B-42CA-A49B-7760FE52012C}"/>
              </a:ext>
            </a:extLst>
          </p:cNvPr>
          <p:cNvSpPr>
            <a:spLocks xmlns:a="http://schemas.openxmlformats.org/drawingml/2006/main" noGrp="1"/>
          </p:cNvSpPr>
          <p:nvPr/>
        </p:nvSpPr>
        <p:spPr>
          <a:xfrm xmlns:a="http://schemas.openxmlformats.org/drawingml/2006/main">
            <a:off x="609600" y="20764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Should lexical identity controls and the all-hook scaling check be the next milestone?</a:t>
            </a:r>
          </a:p>
        </p:txBody>
      </p:sp>
      <p:sp>
        <p:nvSpPr>
          <p:cNvPr id="6" name="">
            <a:extLst xmlns:a="http://schemas.openxmlformats.org/drawingml/2006/main">
              <a:ext uri="{FF2B5EF4-FFF2-40B4-BE49-F238E27FC236}">
                <a16:creationId xmlns:a16="http://schemas.microsoft.com/office/drawing/2014/main" id="{F6EA1190-3E17-4DFA-9AA0-445DF43D21F5}"/>
              </a:ext>
            </a:extLst>
          </p:cNvPr>
          <p:cNvSpPr>
            <a:spLocks xmlns:a="http://schemas.openxmlformats.org/drawingml/2006/main" noGrp="1"/>
          </p:cNvSpPr>
          <p:nvPr/>
        </p:nvSpPr>
        <p:spPr>
          <a:xfrm xmlns:a="http://schemas.openxmlformats.org/drawingml/2006/main">
            <a:off x="609600" y="3124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Interpretability standard</a:t>
            </a:r>
          </a:p>
        </p:txBody>
      </p:sp>
      <p:sp>
        <p:nvSpPr>
          <p:cNvPr id="7" name="">
            <a:extLst xmlns:a="http://schemas.openxmlformats.org/drawingml/2006/main">
              <a:ext uri="{FF2B5EF4-FFF2-40B4-BE49-F238E27FC236}">
                <a16:creationId xmlns:a16="http://schemas.microsoft.com/office/drawing/2014/main" id="{E2D0CAD6-04BA-4853-932C-2C5CC1E8EF68}"/>
              </a:ext>
            </a:extLst>
          </p:cNvPr>
          <p:cNvSpPr>
            <a:spLocks xmlns:a="http://schemas.openxmlformats.org/drawingml/2006/main" noGrp="1"/>
          </p:cNvSpPr>
          <p:nvPr/>
        </p:nvSpPr>
        <p:spPr>
          <a:xfrm xmlns:a="http://schemas.openxmlformats.org/drawingml/2006/main">
            <a:off x="609600" y="35814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What linguistic validation and intervention controls would support the intended claim?</a:t>
            </a:r>
          </a:p>
        </p:txBody>
      </p:sp>
      <p:sp>
        <p:nvSpPr>
          <p:cNvPr id="8" name="">
            <a:extLst xmlns:a="http://schemas.openxmlformats.org/drawingml/2006/main">
              <a:ext uri="{FF2B5EF4-FFF2-40B4-BE49-F238E27FC236}">
                <a16:creationId xmlns:a16="http://schemas.microsoft.com/office/drawing/2014/main" id="{DE034C92-FBC6-4892-9D39-6CA4A95E748F}"/>
              </a:ext>
            </a:extLst>
          </p:cNvPr>
          <p:cNvSpPr>
            <a:spLocks xmlns:a="http://schemas.openxmlformats.org/drawingml/2006/main" noGrp="1"/>
          </p:cNvSpPr>
          <p:nvPr/>
        </p:nvSpPr>
        <p:spPr>
          <a:xfrm xmlns:a="http://schemas.openxmlformats.org/drawingml/2006/main">
            <a:off x="609600" y="4629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Paper scope</a:t>
            </a:r>
          </a:p>
        </p:txBody>
      </p:sp>
      <p:sp>
        <p:nvSpPr>
          <p:cNvPr id="9" name="">
            <a:extLst xmlns:a="http://schemas.openxmlformats.org/drawingml/2006/main">
              <a:ext uri="{FF2B5EF4-FFF2-40B4-BE49-F238E27FC236}">
                <a16:creationId xmlns:a16="http://schemas.microsoft.com/office/drawing/2014/main" id="{371F53F1-C8E4-4FED-90D5-8402C103AD19}"/>
              </a:ext>
            </a:extLst>
          </p:cNvPr>
          <p:cNvSpPr>
            <a:spLocks xmlns:a="http://schemas.openxmlformats.org/drawingml/2006/main" noGrp="1"/>
          </p:cNvSpPr>
          <p:nvPr/>
        </p:nvSpPr>
        <p:spPr>
          <a:xfrm xmlns:a="http://schemas.openxmlformats.org/drawingml/2006/main">
            <a:off x="609600" y="5086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When should participant-level RT analysis enter the main evidence?</a:t>
            </a:r>
          </a:p>
        </p:txBody>
      </p:sp>
    </p:spTree>
    <p:extLst>
      <p:ext uri="{BB962C8B-B14F-4D97-AF65-F5344CB8AC3E}">
        <p14:creationId xmlns:p14="http://schemas.microsoft.com/office/powerpoint/2010/main" val="5522254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F44E4A-D4AE-45B0-A933-F98AA40BA1A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Appendix: model and evaluation details</a:t>
            </a:r>
          </a:p>
        </p:txBody>
      </p:sp>
      <p:sp>
        <p:nvSpPr>
          <p:cNvPr id="2" name="">
            <a:extLst xmlns:a="http://schemas.openxmlformats.org/drawingml/2006/main">
              <a:ext uri="{FF2B5EF4-FFF2-40B4-BE49-F238E27FC236}">
                <a16:creationId xmlns:a16="http://schemas.microsoft.com/office/drawing/2014/main" id="{BA7798E1-D30F-41EB-8A5D-FFBF1D08DFC9}"/>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All-hook analysis: 104 combinations and 3,380 outer fits. Scale-floor follow-up: 4 combinations and 130 outer fits.</a:t>
            </a:r>
          </a:p>
        </p:txBody>
      </p:sp>
      <p:sp>
        <p:nvSpPr>
          <p:cNvPr id="3" name="">
            <a:extLst xmlns:a="http://schemas.openxmlformats.org/drawingml/2006/main">
              <a:ext uri="{FF2B5EF4-FFF2-40B4-BE49-F238E27FC236}">
                <a16:creationId xmlns:a16="http://schemas.microsoft.com/office/drawing/2014/main" id="{1C485673-4544-4FA9-8A3D-7C6167E4844B}"/>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15</a:t>
            </a:r>
          </a:p>
        </p:txBody>
      </p:sp>
      <p:graphicFrame>
        <p:nvGraphicFramePr>
          <p:cNvPr id="8" name=""/>
          <p:cNvGraphicFramePr/>
          <p:nvPr/>
        </p:nvGraphicFramePr>
        <p:xfrm>
          <a:off xmlns:a="http://schemas.openxmlformats.org/drawingml/2006/main" x="609600" y="1428750"/>
          <a:ext xmlns:a="http://schemas.openxmlformats.org/drawingml/2006/main" cx="10972800" cy="4267200"/>
        </p:xfrm>
        <a:graphic xmlns:a="http://schemas.openxmlformats.org/drawingml/2006/main">
          <a:graphicData uri="http://schemas.openxmlformats.org/drawingml/2006/table">
            <a:tbl>
              <a:tblPr firstRow="0" bandRow="0"/>
              <a:tblGrid>
                <a:gridCol w="3333750"/>
                <a:gridCol w="7639050"/>
              </a:tblGrid>
              <a:tr h="609600">
                <a:tc>
                  <a:txBody>
                    <a:bodyPr/>
                    <a:lstStyle/>
                    <a:p>
                      <a:r>
                        <a:rPr sz="1800" b="1">
                          <a:solidFill>
                            <a:srgbClr val="FFFFFF"/>
                          </a:solidFill>
                          <a:latin typeface="Arial"/>
                          <a:ea typeface="Arial"/>
                          <a:cs typeface="Arial"/>
                        </a:rPr>
                        <a:t>Component</a:t>
                      </a:r>
                    </a:p>
                  </a:txBody>
                  <a:tcPr marL="91440" marR="91440" marT="45720" marB="45720">
                    <a:solidFill>
                      <a:srgbClr val="713C6B"/>
                    </a:solidFill>
                  </a:tcPr>
                </a:tc>
                <a:tc>
                  <a:txBody>
                    <a:bodyPr/>
                    <a:lstStyle/>
                    <a:p>
                      <a:r>
                        <a:rPr sz="1800" b="1">
                          <a:solidFill>
                            <a:srgbClr val="FFFFFF"/>
                          </a:solidFill>
                          <a:latin typeface="Arial"/>
                          <a:ea typeface="Arial"/>
                          <a:cs typeface="Arial"/>
                        </a:rPr>
                        <a:t>Specification</a:t>
                      </a:r>
                    </a:p>
                  </a:txBody>
                  <a:tcPr marL="91440" marR="91440" marT="45720" marB="45720">
                    <a:solidFill>
                      <a:srgbClr val="713C6B"/>
                    </a:solidFill>
                  </a:tcPr>
                </a:tc>
              </a:tr>
              <a:tr h="609600">
                <a:tc>
                  <a:txBody>
                    <a:bodyPr/>
                    <a:lstStyle/>
                    <a:p>
                      <a:r>
                        <a:rPr sz="1800" b="0">
                          <a:solidFill>
                            <a:srgbClr val="302C35"/>
                          </a:solidFill>
                          <a:latin typeface="Arial"/>
                          <a:ea typeface="Arial"/>
                          <a:cs typeface="Arial"/>
                        </a:rPr>
                        <a:t>Language model</a:t>
                      </a:r>
                    </a:p>
                  </a:txBody>
                  <a:tcPr marL="91440" marR="91440" marT="45720" marB="45720">
                    <a:solidFill>
                      <a:srgbClr val="F7F5F6"/>
                    </a:solidFill>
                  </a:tcPr>
                </a:tc>
                <a:tc>
                  <a:txBody>
                    <a:bodyPr/>
                    <a:lstStyle/>
                    <a:p>
                      <a:r>
                        <a:rPr sz="1800" b="0">
                          <a:solidFill>
                            <a:srgbClr val="302C35"/>
                          </a:solidFill>
                          <a:latin typeface="Arial"/>
                          <a:ea typeface="Arial"/>
                          <a:cs typeface="Arial"/>
                        </a:rPr>
                        <a:t>Frozen GPT-2 small, 12 blocks, 13 hooks</a:t>
                      </a:r>
                    </a:p>
                  </a:txBody>
                  <a:tcPr marL="91440" marR="91440" marT="45720" marB="45720">
                    <a:solidFill>
                      <a:srgbClr val="F7F5F6"/>
                    </a:solidFill>
                  </a:tcPr>
                </a:tc>
              </a:tr>
              <a:tr h="609600">
                <a:tc>
                  <a:txBody>
                    <a:bodyPr/>
                    <a:lstStyle/>
                    <a:p>
                      <a:r>
                        <a:rPr sz="1800" b="0">
                          <a:solidFill>
                            <a:srgbClr val="302C35"/>
                          </a:solidFill>
                          <a:latin typeface="Arial"/>
                          <a:ea typeface="Arial"/>
                          <a:cs typeface="Arial"/>
                        </a:rPr>
                        <a:t>Sparse representation</a:t>
                      </a:r>
                    </a:p>
                  </a:txBody>
                  <a:tcPr marL="91440" marR="91440" marT="45720" marB="45720">
                    <a:solidFill>
                      <a:srgbClr val="FFFFFF"/>
                    </a:solidFill>
                  </a:tcPr>
                </a:tc>
                <a:tc>
                  <a:txBody>
                    <a:bodyPr/>
                    <a:lstStyle/>
                    <a:p>
                      <a:r>
                        <a:rPr sz="1800" b="0">
                          <a:solidFill>
                            <a:srgbClr val="302C35"/>
                          </a:solidFill>
                          <a:latin typeface="Arial"/>
                          <a:ea typeface="Arial"/>
                          <a:cs typeface="Arial"/>
                        </a:rPr>
                        <a:t>24,576 SAE features at each hook</a:t>
                      </a:r>
                    </a:p>
                  </a:txBody>
                  <a:tcPr marL="91440" marR="91440" marT="45720" marB="45720">
                    <a:solidFill>
                      <a:srgbClr val="FFFFFF"/>
                    </a:solidFill>
                  </a:tcPr>
                </a:tc>
              </a:tr>
              <a:tr h="609600">
                <a:tc>
                  <a:txBody>
                    <a:bodyPr/>
                    <a:lstStyle/>
                    <a:p>
                      <a:r>
                        <a:rPr sz="1800" b="0">
                          <a:solidFill>
                            <a:srgbClr val="302C35"/>
                          </a:solidFill>
                          <a:latin typeface="Arial"/>
                          <a:ea typeface="Arial"/>
                          <a:cs typeface="Arial"/>
                        </a:rPr>
                        <a:t>Windows</a:t>
                      </a:r>
                    </a:p>
                  </a:txBody>
                  <a:tcPr marL="91440" marR="91440" marT="45720" marB="45720">
                    <a:solidFill>
                      <a:srgbClr val="F7F5F6"/>
                    </a:solidFill>
                  </a:tcPr>
                </a:tc>
                <a:tc>
                  <a:txBody>
                    <a:bodyPr/>
                    <a:lstStyle/>
                    <a:p>
                      <a:r>
                        <a:rPr sz="1800" b="0">
                          <a:solidFill>
                            <a:srgbClr val="302C35"/>
                          </a:solidFill>
                          <a:latin typeface="Arial"/>
                          <a:ea typeface="Arial"/>
                          <a:cs typeface="Arial"/>
                        </a:rPr>
                        <a:t>Primary 128/64, separate surprisal 1,024/512</a:t>
                      </a:r>
                    </a:p>
                  </a:txBody>
                  <a:tcPr marL="91440" marR="91440" marT="45720" marB="45720">
                    <a:solidFill>
                      <a:srgbClr val="F7F5F6"/>
                    </a:solidFill>
                  </a:tcPr>
                </a:tc>
              </a:tr>
              <a:tr h="609600">
                <a:tc>
                  <a:txBody>
                    <a:bodyPr/>
                    <a:lstStyle/>
                    <a:p>
                      <a:r>
                        <a:rPr sz="1800" b="0">
                          <a:solidFill>
                            <a:srgbClr val="302C35"/>
                          </a:solidFill>
                          <a:latin typeface="Arial"/>
                          <a:ea typeface="Arial"/>
                          <a:cs typeface="Arial"/>
                        </a:rPr>
                        <a:t>Readout</a:t>
                      </a:r>
                    </a:p>
                  </a:txBody>
                  <a:tcPr marL="91440" marR="91440" marT="45720" marB="45720">
                    <a:solidFill>
                      <a:srgbClr val="FFFFFF"/>
                    </a:solidFill>
                  </a:tcPr>
                </a:tc>
                <a:tc>
                  <a:txBody>
                    <a:bodyPr/>
                    <a:lstStyle/>
                    <a:p>
                      <a:r>
                        <a:rPr sz="1800" b="0">
                          <a:solidFill>
                            <a:srgbClr val="302C35"/>
                          </a:solidFill>
                          <a:latin typeface="Arial"/>
                          <a:ea typeface="Arial"/>
                          <a:cs typeface="Arial"/>
                        </a:rPr>
                        <a:t>Ridge on features, unpenalized M1 predictors</a:t>
                      </a:r>
                    </a:p>
                  </a:txBody>
                  <a:tcPr marL="91440" marR="91440" marT="45720" marB="45720">
                    <a:solidFill>
                      <a:srgbClr val="FFFFFF"/>
                    </a:solidFill>
                  </a:tcPr>
                </a:tc>
              </a:tr>
              <a:tr h="609600">
                <a:tc>
                  <a:txBody>
                    <a:bodyPr/>
                    <a:lstStyle/>
                    <a:p>
                      <a:r>
                        <a:rPr sz="1800" b="0">
                          <a:solidFill>
                            <a:srgbClr val="302C35"/>
                          </a:solidFill>
                          <a:latin typeface="Arial"/>
                          <a:ea typeface="Arial"/>
                          <a:cs typeface="Arial"/>
                        </a:rPr>
                        <a:t>Penalty grid</a:t>
                      </a:r>
                    </a:p>
                  </a:txBody>
                  <a:tcPr marL="91440" marR="91440" marT="45720" marB="45720">
                    <a:solidFill>
                      <a:srgbClr val="F7F5F6"/>
                    </a:solidFill>
                  </a:tcPr>
                </a:tc>
                <a:tc>
                  <a:txBody>
                    <a:bodyPr/>
                    <a:lstStyle/>
                    <a:p>
                      <a:r>
                        <a:rPr sz="1800" b="0">
                          <a:solidFill>
                            <a:srgbClr val="302C35"/>
                          </a:solidFill>
                          <a:latin typeface="Arial"/>
                          <a:ea typeface="Arial"/>
                          <a:cs typeface="Arial"/>
                        </a:rPr>
                        <a:t>100, 10, 1, 0.1, 0.01</a:t>
                      </a:r>
                    </a:p>
                  </a:txBody>
                  <a:tcPr marL="91440" marR="91440" marT="45720" marB="45720">
                    <a:solidFill>
                      <a:srgbClr val="F7F5F6"/>
                    </a:solidFill>
                  </a:tcPr>
                </a:tc>
              </a:tr>
              <a:tr h="609600">
                <a:tc>
                  <a:txBody>
                    <a:bodyPr/>
                    <a:lstStyle/>
                    <a:p>
                      <a:r>
                        <a:rPr sz="1800" b="0">
                          <a:solidFill>
                            <a:srgbClr val="302C35"/>
                          </a:solidFill>
                          <a:latin typeface="Arial"/>
                          <a:ea typeface="Arial"/>
                          <a:cs typeface="Arial"/>
                        </a:rPr>
                        <a:t>Uncertainty</a:t>
                      </a:r>
                    </a:p>
                  </a:txBody>
                  <a:tcPr marL="91440" marR="91440" marT="45720" marB="45720">
                    <a:solidFill>
                      <a:srgbClr val="FFFFFF"/>
                    </a:solidFill>
                  </a:tcPr>
                </a:tc>
                <a:tc>
                  <a:txBody>
                    <a:bodyPr/>
                    <a:lstStyle/>
                    <a:p>
                      <a:r>
                        <a:rPr sz="1800" b="0">
                          <a:solidFill>
                            <a:srgbClr val="302C35"/>
                          </a:solidFill>
                          <a:latin typeface="Arial"/>
                          <a:ea typeface="Arial"/>
                          <a:cs typeface="Arial"/>
                        </a:rPr>
                        <a:t>2,000 paired text bootstraps, fixed predictions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374444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386D78-7B61-40DB-9356-309CF815556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Appendix: three different meanings of zero</a:t>
            </a:r>
          </a:p>
        </p:txBody>
      </p:sp>
      <p:sp>
        <p:nvSpPr>
          <p:cNvPr id="2" name="">
            <a:extLst xmlns:a="http://schemas.openxmlformats.org/drawingml/2006/main">
              <a:ext uri="{FF2B5EF4-FFF2-40B4-BE49-F238E27FC236}">
                <a16:creationId xmlns:a16="http://schemas.microsoft.com/office/drawing/2014/main" id="{00BC294F-6B3B-4917-A318-03DEB1B9F03F}"/>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None of these alone establishes that GPT-2 omits a computation used by human readers.</a:t>
            </a:r>
          </a:p>
        </p:txBody>
      </p:sp>
      <p:sp>
        <p:nvSpPr>
          <p:cNvPr id="3" name="">
            <a:extLst xmlns:a="http://schemas.openxmlformats.org/drawingml/2006/main">
              <a:ext uri="{FF2B5EF4-FFF2-40B4-BE49-F238E27FC236}">
                <a16:creationId xmlns:a16="http://schemas.microsoft.com/office/drawing/2014/main" id="{3B3F30A5-B38F-436B-B946-DE8FDE2E9B23}"/>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7244F616-D9AF-490E-8446-DCABD0C6D58D}"/>
              </a:ext>
            </a:extLst>
          </p:cNvPr>
          <p:cNvSpPr>
            <a:spLocks xmlns:a="http://schemas.openxmlformats.org/drawingml/2006/main" noGrp="1"/>
          </p:cNvSpPr>
          <p:nvPr/>
        </p:nvSpPr>
        <p:spPr>
          <a:xfrm xmlns:a="http://schemas.openxmlformats.org/drawingml/2006/main">
            <a:off x="609600" y="1619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Zero SAE activation</a:t>
            </a:r>
          </a:p>
        </p:txBody>
      </p:sp>
      <p:sp>
        <p:nvSpPr>
          <p:cNvPr id="5" name="">
            <a:extLst xmlns:a="http://schemas.openxmlformats.org/drawingml/2006/main">
              <a:ext uri="{FF2B5EF4-FFF2-40B4-BE49-F238E27FC236}">
                <a16:creationId xmlns:a16="http://schemas.microsoft.com/office/drawing/2014/main" id="{6681C60E-F63E-4BB2-A067-CC790CDBDF57}"/>
              </a:ext>
            </a:extLst>
          </p:cNvPr>
          <p:cNvSpPr>
            <a:spLocks xmlns:a="http://schemas.openxmlformats.org/drawingml/2006/main" noGrp="1"/>
          </p:cNvSpPr>
          <p:nvPr/>
        </p:nvSpPr>
        <p:spPr>
          <a:xfrm xmlns:a="http://schemas.openxmlformats.org/drawingml/2006/main">
            <a:off x="609600" y="20764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The encoder assigns no activation to this feature in this context.</a:t>
            </a:r>
          </a:p>
        </p:txBody>
      </p:sp>
      <p:sp>
        <p:nvSpPr>
          <p:cNvPr id="6" name="">
            <a:extLst xmlns:a="http://schemas.openxmlformats.org/drawingml/2006/main">
              <a:ext uri="{FF2B5EF4-FFF2-40B4-BE49-F238E27FC236}">
                <a16:creationId xmlns:a16="http://schemas.microsoft.com/office/drawing/2014/main" id="{066F1162-6118-4DFF-8E2A-F28D341905CD}"/>
              </a:ext>
            </a:extLst>
          </p:cNvPr>
          <p:cNvSpPr>
            <a:spLocks xmlns:a="http://schemas.openxmlformats.org/drawingml/2006/main" noGrp="1"/>
          </p:cNvSpPr>
          <p:nvPr/>
        </p:nvSpPr>
        <p:spPr>
          <a:xfrm xmlns:a="http://schemas.openxmlformats.org/drawingml/2006/main">
            <a:off x="609600" y="30670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Zero regression coefficient</a:t>
            </a:r>
          </a:p>
        </p:txBody>
      </p:sp>
      <p:sp>
        <p:nvSpPr>
          <p:cNvPr id="7" name="">
            <a:extLst xmlns:a="http://schemas.openxmlformats.org/drawingml/2006/main">
              <a:ext uri="{FF2B5EF4-FFF2-40B4-BE49-F238E27FC236}">
                <a16:creationId xmlns:a16="http://schemas.microsoft.com/office/drawing/2014/main" id="{BCE7C24F-0038-4310-B7B2-9493B375A269}"/>
              </a:ext>
            </a:extLst>
          </p:cNvPr>
          <p:cNvSpPr>
            <a:spLocks xmlns:a="http://schemas.openxmlformats.org/drawingml/2006/main" noGrp="1"/>
          </p:cNvSpPr>
          <p:nvPr/>
        </p:nvSpPr>
        <p:spPr>
          <a:xfrm xmlns:a="http://schemas.openxmlformats.org/drawingml/2006/main">
            <a:off x="609600" y="35242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A prediction model gives the feature no fitted weight. Ridge is not sparse selection.</a:t>
            </a:r>
          </a:p>
        </p:txBody>
      </p:sp>
      <p:sp>
        <p:nvSpPr>
          <p:cNvPr id="8" name="">
            <a:extLst xmlns:a="http://schemas.openxmlformats.org/drawingml/2006/main">
              <a:ext uri="{FF2B5EF4-FFF2-40B4-BE49-F238E27FC236}">
                <a16:creationId xmlns:a16="http://schemas.microsoft.com/office/drawing/2014/main" id="{B118F149-3490-4FF3-82C7-72F1AD202E42}"/>
              </a:ext>
            </a:extLst>
          </p:cNvPr>
          <p:cNvSpPr>
            <a:spLocks xmlns:a="http://schemas.openxmlformats.org/drawingml/2006/main" noGrp="1"/>
          </p:cNvSpPr>
          <p:nvPr/>
        </p:nvSpPr>
        <p:spPr>
          <a:xfrm xmlns:a="http://schemas.openxmlformats.org/drawingml/2006/main">
            <a:off x="609600" y="45148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745C"/>
                </a:solidFill>
                <a:latin typeface="Arial"/>
                <a:ea typeface="Arial"/>
                <a:cs typeface="Arial"/>
              </a:defRPr>
            </a:pPr>
            <a:r>
              <a:rPr sz="2175" b="1">
                <a:solidFill>
                  <a:srgbClr val="26745C"/>
                </a:solidFill>
                <a:latin typeface="Arial"/>
                <a:ea typeface="Arial"/>
                <a:cs typeface="Arial"/>
              </a:rPr>
              <a:t>Feature ablation</a:t>
            </a:r>
          </a:p>
        </p:txBody>
      </p:sp>
      <p:sp>
        <p:nvSpPr>
          <p:cNvPr id="9" name="">
            <a:extLst xmlns:a="http://schemas.openxmlformats.org/drawingml/2006/main">
              <a:ext uri="{FF2B5EF4-FFF2-40B4-BE49-F238E27FC236}">
                <a16:creationId xmlns:a16="http://schemas.microsoft.com/office/drawing/2014/main" id="{170E4CCE-B7B4-47C5-8EB3-EF96E7B40B30}"/>
              </a:ext>
            </a:extLst>
          </p:cNvPr>
          <p:cNvSpPr>
            <a:spLocks xmlns:a="http://schemas.openxmlformats.org/drawingml/2006/main" noGrp="1"/>
          </p:cNvSpPr>
          <p:nvPr/>
        </p:nvSpPr>
        <p:spPr>
          <a:xfrm xmlns:a="http://schemas.openxmlformats.org/drawingml/2006/main">
            <a:off x="609600" y="49720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02C35"/>
                </a:solidFill>
                <a:latin typeface="Arial"/>
                <a:ea typeface="Arial"/>
                <a:cs typeface="Arial"/>
              </a:defRPr>
            </a:pPr>
            <a:r>
              <a:rPr sz="2025" b="0">
                <a:solidFill>
                  <a:srgbClr val="302C35"/>
                </a:solidFill>
                <a:latin typeface="Arial"/>
                <a:ea typeface="Arial"/>
                <a:cs typeface="Arial"/>
              </a:rPr>
              <a:t>An experimenter removes a feature contribution and measures downstream changes.</a:t>
            </a:r>
          </a:p>
        </p:txBody>
      </p:sp>
    </p:spTree>
    <p:extLst>
      <p:ext uri="{BB962C8B-B14F-4D97-AF65-F5344CB8AC3E}">
        <p14:creationId xmlns:p14="http://schemas.microsoft.com/office/powerpoint/2010/main" val="11812780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C34B8C-6F0F-4A42-836D-0BE64DC0756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3C6B"/>
                </a:solidFill>
                <a:latin typeface="Arial"/>
                <a:ea typeface="Arial"/>
                <a:cs typeface="Arial"/>
              </a:defRPr>
            </a:pPr>
            <a:r>
              <a:rPr sz="3150" b="1">
                <a:solidFill>
                  <a:srgbClr val="713C6B"/>
                </a:solidFill>
                <a:latin typeface="Arial"/>
                <a:ea typeface="Arial"/>
                <a:cs typeface="Arial"/>
              </a:rPr>
              <a:t>Appendix: reproducible evidence</a:t>
            </a:r>
          </a:p>
        </p:txBody>
      </p:sp>
      <p:sp>
        <p:nvSpPr>
          <p:cNvPr id="2" name="">
            <a:extLst xmlns:a="http://schemas.openxmlformats.org/drawingml/2006/main">
              <a:ext uri="{FF2B5EF4-FFF2-40B4-BE49-F238E27FC236}">
                <a16:creationId xmlns:a16="http://schemas.microsoft.com/office/drawing/2014/main" id="{0D0033FB-1040-4D1D-AD69-C565DDF0932B}"/>
              </a:ext>
            </a:extLst>
          </p:cNvPr>
          <p:cNvSpPr>
            <a:spLocks xmlns:a="http://schemas.openxmlformats.org/drawingml/2006/main" noGrp="1"/>
          </p:cNvSpPr>
          <p:nvPr/>
        </p:nvSpPr>
        <p:spPr>
          <a:xfrm xmlns:a="http://schemas.openxmlformats.org/drawingml/2006/main">
            <a:off x="609600" y="60769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Study positioning: computational psycholinguistics with model interpretability. Novelty requires a focused literature comparison.</a:t>
            </a:r>
          </a:p>
        </p:txBody>
      </p:sp>
      <p:sp>
        <p:nvSpPr>
          <p:cNvPr id="3" name="">
            <a:extLst xmlns:a="http://schemas.openxmlformats.org/drawingml/2006/main">
              <a:ext uri="{FF2B5EF4-FFF2-40B4-BE49-F238E27FC236}">
                <a16:creationId xmlns:a16="http://schemas.microsoft.com/office/drawing/2014/main" id="{9FE252BB-F734-4571-89DA-8956CE7865F8}"/>
              </a:ext>
            </a:extLst>
          </p:cNvPr>
          <p:cNvSpPr>
            <a:spLocks xmlns:a="http://schemas.openxmlformats.org/drawingml/2006/main" noGrp="1"/>
          </p:cNvSpPr>
          <p:nvPr/>
        </p:nvSpPr>
        <p:spPr>
          <a:xfrm xmlns:a="http://schemas.openxmlformats.org/drawingml/2006/main">
            <a:off x="11191875" y="6257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77078"/>
                </a:solidFill>
                <a:latin typeface="Arial"/>
                <a:ea typeface="Arial"/>
                <a:cs typeface="Arial"/>
              </a:defRPr>
            </a:pPr>
            <a:r>
              <a:rPr sz="1350" b="0">
                <a:solidFill>
                  <a:srgbClr val="777078"/>
                </a:solidFill>
                <a:latin typeface="Arial"/>
                <a:ea typeface="Arial"/>
                <a:cs typeface="Arial"/>
              </a:rPr>
              <a:t>17</a:t>
            </a:r>
          </a:p>
        </p:txBody>
      </p:sp>
      <p:graphicFrame>
        <p:nvGraphicFramePr>
          <p:cNvPr id="8" name=""/>
          <p:cNvGraphicFramePr/>
          <p:nvPr/>
        </p:nvGraphicFramePr>
        <p:xfrm>
          <a:off xmlns:a="http://schemas.openxmlformats.org/drawingml/2006/main" x="609600" y="1695450"/>
          <a:ext xmlns:a="http://schemas.openxmlformats.org/drawingml/2006/main" cx="10972800" cy="3371850"/>
        </p:xfrm>
        <a:graphic xmlns:a="http://schemas.openxmlformats.org/drawingml/2006/main">
          <a:graphicData uri="http://schemas.openxmlformats.org/drawingml/2006/table">
            <a:tbl>
              <a:tblPr firstRow="0" bandRow="0"/>
              <a:tblGrid>
                <a:gridCol w="4095750"/>
                <a:gridCol w="6877050"/>
              </a:tblGrid>
              <a:tr h="561975">
                <a:tc>
                  <a:txBody>
                    <a:bodyPr/>
                    <a:lstStyle/>
                    <a:p>
                      <a:r>
                        <a:rPr sz="2025" b="1">
                          <a:solidFill>
                            <a:srgbClr val="FFFFFF"/>
                          </a:solidFill>
                          <a:latin typeface="Arial"/>
                          <a:ea typeface="Arial"/>
                          <a:cs typeface="Arial"/>
                        </a:rPr>
                        <a:t>Evidence</a:t>
                      </a:r>
                    </a:p>
                  </a:txBody>
                  <a:tcPr marL="91440" marR="91440" marT="45720" marB="45720">
                    <a:solidFill>
                      <a:srgbClr val="713C6B"/>
                    </a:solidFill>
                  </a:tcPr>
                </a:tc>
                <a:tc>
                  <a:txBody>
                    <a:bodyPr/>
                    <a:lstStyle/>
                    <a:p>
                      <a:r>
                        <a:rPr sz="2025" b="1">
                          <a:solidFill>
                            <a:srgbClr val="FFFFFF"/>
                          </a:solidFill>
                          <a:latin typeface="Arial"/>
                          <a:ea typeface="Arial"/>
                          <a:cs typeface="Arial"/>
                        </a:rPr>
                        <a:t>Location</a:t>
                      </a:r>
                    </a:p>
                  </a:txBody>
                  <a:tcPr marL="91440" marR="91440" marT="45720" marB="45720">
                    <a:solidFill>
                      <a:srgbClr val="713C6B"/>
                    </a:solidFill>
                  </a:tcPr>
                </a:tc>
              </a:tr>
              <a:tr h="561975">
                <a:tc>
                  <a:txBody>
                    <a:bodyPr/>
                    <a:lstStyle/>
                    <a:p>
                      <a:r>
                        <a:rPr sz="2025" b="0">
                          <a:solidFill>
                            <a:srgbClr val="302C35"/>
                          </a:solidFill>
                          <a:latin typeface="Arial"/>
                          <a:ea typeface="Arial"/>
                          <a:cs typeface="Arial"/>
                        </a:rPr>
                        <a:t>Baseline and fidelity</a:t>
                      </a:r>
                    </a:p>
                  </a:txBody>
                  <a:tcPr marL="91440" marR="91440" marT="45720" marB="45720">
                    <a:solidFill>
                      <a:srgbClr val="F7F5F6"/>
                    </a:solidFill>
                  </a:tcPr>
                </a:tc>
                <a:tc>
                  <a:txBody>
                    <a:bodyPr/>
                    <a:lstStyle/>
                    <a:p>
                      <a:r>
                        <a:rPr sz="2025" b="0">
                          <a:solidFill>
                            <a:srgbClr val="302C35"/>
                          </a:solidFill>
                          <a:latin typeface="Arial"/>
                          <a:ea typeface="Arial"/>
                          <a:cs typeface="Arial"/>
                        </a:rPr>
                        <a:t>Notebooks 01 and 02</a:t>
                      </a:r>
                    </a:p>
                  </a:txBody>
                  <a:tcPr marL="91440" marR="91440" marT="45720" marB="45720">
                    <a:solidFill>
                      <a:srgbClr val="F7F5F6"/>
                    </a:solidFill>
                  </a:tcPr>
                </a:tc>
              </a:tr>
              <a:tr h="561975">
                <a:tc>
                  <a:txBody>
                    <a:bodyPr/>
                    <a:lstStyle/>
                    <a:p>
                      <a:r>
                        <a:rPr sz="2025" b="0">
                          <a:solidFill>
                            <a:srgbClr val="302C35"/>
                          </a:solidFill>
                          <a:latin typeface="Arial"/>
                          <a:ea typeface="Arial"/>
                          <a:cs typeface="Arial"/>
                        </a:rPr>
                        <a:t>SAE prediction</a:t>
                      </a:r>
                    </a:p>
                  </a:txBody>
                  <a:tcPr marL="91440" marR="91440" marT="45720" marB="45720">
                    <a:solidFill>
                      <a:srgbClr val="FFFFFF"/>
                    </a:solidFill>
                  </a:tcPr>
                </a:tc>
                <a:tc>
                  <a:txBody>
                    <a:bodyPr/>
                    <a:lstStyle/>
                    <a:p>
                      <a:r>
                        <a:rPr sz="2025" b="0">
                          <a:solidFill>
                            <a:srgbClr val="302C35"/>
                          </a:solidFill>
                          <a:latin typeface="Arial"/>
                          <a:ea typeface="Arial"/>
                          <a:cs typeface="Arial"/>
                        </a:rPr>
                        <a:t>Notebook 03 and saved outer predictions</a:t>
                      </a:r>
                    </a:p>
                  </a:txBody>
                  <a:tcPr marL="91440" marR="91440" marT="45720" marB="45720">
                    <a:solidFill>
                      <a:srgbClr val="FFFFFF"/>
                    </a:solidFill>
                  </a:tcPr>
                </a:tc>
              </a:tr>
              <a:tr h="561975">
                <a:tc>
                  <a:txBody>
                    <a:bodyPr/>
                    <a:lstStyle/>
                    <a:p>
                      <a:r>
                        <a:rPr sz="2025" b="0">
                          <a:solidFill>
                            <a:srgbClr val="302C35"/>
                          </a:solidFill>
                          <a:latin typeface="Arial"/>
                          <a:ea typeface="Arial"/>
                          <a:cs typeface="Arial"/>
                        </a:rPr>
                        <a:t>New scaling follow-up</a:t>
                      </a:r>
                    </a:p>
                  </a:txBody>
                  <a:tcPr marL="91440" marR="91440" marT="45720" marB="45720">
                    <a:solidFill>
                      <a:srgbClr val="F7F5F6"/>
                    </a:solidFill>
                  </a:tcPr>
                </a:tc>
                <a:tc>
                  <a:txBody>
                    <a:bodyPr/>
                    <a:lstStyle/>
                    <a:p>
                      <a:r>
                        <a:rPr sz="2025" b="0">
                          <a:solidFill>
                            <a:srgbClr val="302C35"/>
                          </a:solidFill>
                          <a:latin typeface="Arial"/>
                          <a:ea typeface="Arial"/>
                          <a:cs typeface="Arial"/>
                        </a:rPr>
                        <a:t>Notebook 04 and scaling_sensitivity_v1</a:t>
                      </a:r>
                    </a:p>
                  </a:txBody>
                  <a:tcPr marL="91440" marR="91440" marT="45720" marB="45720">
                    <a:solidFill>
                      <a:srgbClr val="F7F5F6"/>
                    </a:solidFill>
                  </a:tcPr>
                </a:tc>
              </a:tr>
              <a:tr h="561975">
                <a:tc>
                  <a:txBody>
                    <a:bodyPr/>
                    <a:lstStyle/>
                    <a:p>
                      <a:r>
                        <a:rPr sz="2025" b="0">
                          <a:solidFill>
                            <a:srgbClr val="302C35"/>
                          </a:solidFill>
                          <a:latin typeface="Arial"/>
                          <a:ea typeface="Arial"/>
                          <a:cs typeface="Arial"/>
                        </a:rPr>
                        <a:t>Paper tables</a:t>
                      </a:r>
                    </a:p>
                  </a:txBody>
                  <a:tcPr marL="91440" marR="91440" marT="45720" marB="45720">
                    <a:solidFill>
                      <a:srgbClr val="FFFFFF"/>
                    </a:solidFill>
                  </a:tcPr>
                </a:tc>
                <a:tc>
                  <a:txBody>
                    <a:bodyPr/>
                    <a:lstStyle/>
                    <a:p>
                      <a:r>
                        <a:rPr sz="2025" b="0">
                          <a:solidFill>
                            <a:srgbClr val="302C35"/>
                          </a:solidFill>
                          <a:latin typeface="Arial"/>
                          <a:ea typeface="Arial"/>
                          <a:cs typeface="Arial"/>
                        </a:rPr>
                        <a:t>Notebook 90</a:t>
                      </a:r>
                    </a:p>
                  </a:txBody>
                  <a:tcPr marL="91440" marR="91440" marT="45720" marB="45720">
                    <a:solidFill>
                      <a:srgbClr val="FFFFFF"/>
                    </a:solidFill>
                  </a:tcPr>
                </a:tc>
              </a:tr>
              <a:tr h="561975">
                <a:tc>
                  <a:txBody>
                    <a:bodyPr/>
                    <a:lstStyle/>
                    <a:p>
                      <a:r>
                        <a:rPr sz="2025" b="0">
                          <a:solidFill>
                            <a:srgbClr val="302C35"/>
                          </a:solidFill>
                          <a:latin typeface="Arial"/>
                          <a:ea typeface="Arial"/>
                          <a:cs typeface="Arial"/>
                        </a:rPr>
                        <a:t>Analysis specifications</a:t>
                      </a:r>
                    </a:p>
                  </a:txBody>
                  <a:tcPr marL="91440" marR="91440" marT="45720" marB="45720">
                    <a:solidFill>
                      <a:srgbClr val="F7F5F6"/>
                    </a:solidFill>
                  </a:tcPr>
                </a:tc>
                <a:tc>
                  <a:txBody>
                    <a:bodyPr/>
                    <a:lstStyle/>
                    <a:p>
                      <a:r>
                        <a:rPr sz="2025" b="0">
                          <a:solidFill>
                            <a:srgbClr val="302C35"/>
                          </a:solidFill>
                          <a:latin typeface="Arial"/>
                          <a:ea typeface="Arial"/>
                          <a:cs typeface="Arial"/>
                        </a:rPr>
                        <a:t>configs/ and docs/</a:t>
                      </a:r>
                    </a:p>
                  </a:txBody>
                  <a:tcPr marL="91440" marR="91440" marT="45720" marB="45720">
                    <a:solidFill>
                      <a:srgbClr val="F7F5F6"/>
                    </a:solidFill>
                  </a:tcPr>
                </a:tc>
              </a:tr>
            </a:tbl>
          </a:graphicData>
        </a:graphic>
      </p:graphicFrame>
    </p:spTree>
    <p:extLst>
      <p:ext uri="{BB962C8B-B14F-4D97-AF65-F5344CB8AC3E}">
        <p14:creationId xmlns:p14="http://schemas.microsoft.com/office/powerpoint/2010/main" val="105629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2026-09-20T18:23:21.7970000Z</dcterms:created>
  <dcterms:modified xsi:type="dcterms:W3CDTF">2026-09-20T18:23:21.7970000Z</dcterms:modified>
</coreProperties>
</file>